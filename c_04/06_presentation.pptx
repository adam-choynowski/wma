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4" r:id="rId3"/>
    <p:sldId id="277" r:id="rId4"/>
    <p:sldId id="281" r:id="rId5"/>
    <p:sldId id="269" r:id="rId6"/>
    <p:sldId id="267" r:id="rId7"/>
    <p:sldId id="272" r:id="rId8"/>
    <p:sldId id="275" r:id="rId9"/>
    <p:sldId id="276" r:id="rId10"/>
    <p:sldId id="278" r:id="rId11"/>
    <p:sldId id="279" r:id="rId12"/>
    <p:sldId id="280" r:id="rId13"/>
    <p:sldId id="270" r:id="rId14"/>
    <p:sldId id="271" r:id="rId15"/>
    <p:sldId id="282" r:id="rId16"/>
    <p:sldId id="283" r:id="rId17"/>
    <p:sldId id="284" r:id="rId18"/>
    <p:sldId id="285" r:id="rId19"/>
    <p:sldId id="286" r:id="rId20"/>
    <p:sldId id="265" r:id="rId21"/>
    <p:sldId id="287" r:id="rId22"/>
    <p:sldId id="288" r:id="rId23"/>
    <p:sldId id="257" r:id="rId24"/>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14E"/>
    <a:srgbClr val="AA1C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668" autoAdjust="0"/>
    <p:restoredTop sz="88889" autoAdjust="0"/>
  </p:normalViewPr>
  <p:slideViewPr>
    <p:cSldViewPr snapToGrid="0">
      <p:cViewPr varScale="1">
        <p:scale>
          <a:sx n="101" d="100"/>
          <a:sy n="101" d="100"/>
        </p:scale>
        <p:origin x="141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F7C07B-CAE4-4F3D-9AF3-ABA722621BD4}" type="datetimeFigureOut">
              <a:rPr lang="en-GB" smtClean="0"/>
              <a:t>13/04/2026</a:t>
            </a:fld>
            <a:endParaRPr lang="en-GB"/>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9283A7-C02B-40A2-B1C2-48045AC7D919}" type="slidenum">
              <a:rPr lang="en-GB" smtClean="0"/>
              <a:t>‹#›</a:t>
            </a:fld>
            <a:endParaRPr lang="en-GB"/>
          </a:p>
        </p:txBody>
      </p:sp>
    </p:spTree>
    <p:extLst>
      <p:ext uri="{BB962C8B-B14F-4D97-AF65-F5344CB8AC3E}">
        <p14:creationId xmlns:p14="http://schemas.microsoft.com/office/powerpoint/2010/main" val="18019725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6D9283A7-C02B-40A2-B1C2-48045AC7D919}" type="slidenum">
              <a:rPr lang="en-GB" smtClean="0"/>
              <a:t>16</a:t>
            </a:fld>
            <a:endParaRPr lang="en-GB"/>
          </a:p>
        </p:txBody>
      </p:sp>
    </p:spTree>
    <p:extLst>
      <p:ext uri="{BB962C8B-B14F-4D97-AF65-F5344CB8AC3E}">
        <p14:creationId xmlns:p14="http://schemas.microsoft.com/office/powerpoint/2010/main" val="2408935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6D9283A7-C02B-40A2-B1C2-48045AC7D919}" type="slidenum">
              <a:rPr lang="en-GB" smtClean="0"/>
              <a:t>17</a:t>
            </a:fld>
            <a:endParaRPr lang="en-GB"/>
          </a:p>
        </p:txBody>
      </p:sp>
    </p:spTree>
    <p:extLst>
      <p:ext uri="{BB962C8B-B14F-4D97-AF65-F5344CB8AC3E}">
        <p14:creationId xmlns:p14="http://schemas.microsoft.com/office/powerpoint/2010/main" val="6470031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6D9283A7-C02B-40A2-B1C2-48045AC7D919}" type="slidenum">
              <a:rPr lang="en-GB" smtClean="0"/>
              <a:t>18</a:t>
            </a:fld>
            <a:endParaRPr lang="en-GB"/>
          </a:p>
        </p:txBody>
      </p:sp>
    </p:spTree>
    <p:extLst>
      <p:ext uri="{BB962C8B-B14F-4D97-AF65-F5344CB8AC3E}">
        <p14:creationId xmlns:p14="http://schemas.microsoft.com/office/powerpoint/2010/main" val="34576761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6D9283A7-C02B-40A2-B1C2-48045AC7D919}" type="slidenum">
              <a:rPr lang="en-GB" smtClean="0"/>
              <a:t>19</a:t>
            </a:fld>
            <a:endParaRPr lang="en-GB"/>
          </a:p>
        </p:txBody>
      </p:sp>
    </p:spTree>
    <p:extLst>
      <p:ext uri="{BB962C8B-B14F-4D97-AF65-F5344CB8AC3E}">
        <p14:creationId xmlns:p14="http://schemas.microsoft.com/office/powerpoint/2010/main" val="11408261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6D9283A7-C02B-40A2-B1C2-48045AC7D919}" type="slidenum">
              <a:rPr lang="en-GB" smtClean="0"/>
              <a:t>21</a:t>
            </a:fld>
            <a:endParaRPr lang="en-GB"/>
          </a:p>
        </p:txBody>
      </p:sp>
    </p:spTree>
    <p:extLst>
      <p:ext uri="{BB962C8B-B14F-4D97-AF65-F5344CB8AC3E}">
        <p14:creationId xmlns:p14="http://schemas.microsoft.com/office/powerpoint/2010/main" val="191897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en-GB" dirty="0"/>
          </a:p>
        </p:txBody>
      </p:sp>
      <p:sp>
        <p:nvSpPr>
          <p:cNvPr id="4" name="Symbol zastępczy numeru slajdu 3"/>
          <p:cNvSpPr>
            <a:spLocks noGrp="1"/>
          </p:cNvSpPr>
          <p:nvPr>
            <p:ph type="sldNum" sz="quarter" idx="5"/>
          </p:nvPr>
        </p:nvSpPr>
        <p:spPr/>
        <p:txBody>
          <a:bodyPr/>
          <a:lstStyle/>
          <a:p>
            <a:fld id="{6D9283A7-C02B-40A2-B1C2-48045AC7D919}" type="slidenum">
              <a:rPr lang="en-GB" smtClean="0"/>
              <a:t>22</a:t>
            </a:fld>
            <a:endParaRPr lang="en-GB"/>
          </a:p>
        </p:txBody>
      </p:sp>
    </p:spTree>
    <p:extLst>
      <p:ext uri="{BB962C8B-B14F-4D97-AF65-F5344CB8AC3E}">
        <p14:creationId xmlns:p14="http://schemas.microsoft.com/office/powerpoint/2010/main" val="7755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2E747AB-326F-B2E1-7146-1E927BA114BF}"/>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endParaRPr lang="en-GB"/>
          </a:p>
        </p:txBody>
      </p:sp>
      <p:sp>
        <p:nvSpPr>
          <p:cNvPr id="3" name="Podtytuł 2">
            <a:extLst>
              <a:ext uri="{FF2B5EF4-FFF2-40B4-BE49-F238E27FC236}">
                <a16:creationId xmlns:a16="http://schemas.microsoft.com/office/drawing/2014/main" id="{343827C0-D8A4-20A4-3074-A24BC937EB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endParaRPr lang="en-GB"/>
          </a:p>
        </p:txBody>
      </p:sp>
      <p:sp>
        <p:nvSpPr>
          <p:cNvPr id="4" name="Symbol zastępczy daty 3">
            <a:extLst>
              <a:ext uri="{FF2B5EF4-FFF2-40B4-BE49-F238E27FC236}">
                <a16:creationId xmlns:a16="http://schemas.microsoft.com/office/drawing/2014/main" id="{E9093A10-0B8F-E7D8-558D-2C709AE7DC71}"/>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5" name="Symbol zastępczy stopki 4">
            <a:extLst>
              <a:ext uri="{FF2B5EF4-FFF2-40B4-BE49-F238E27FC236}">
                <a16:creationId xmlns:a16="http://schemas.microsoft.com/office/drawing/2014/main" id="{153EEF81-BFC4-4A61-0DFE-D1198487A7A8}"/>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0D4E90CC-5A5E-03A6-640D-32ADB831BE36}"/>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025929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26FC42C-294B-3013-FE56-6D8A4D0B748B}"/>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F0CC13FC-E145-92B1-F10B-E65A43FC269E}"/>
              </a:ext>
            </a:extLst>
          </p:cNvPr>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9C5BE417-FEB8-EC14-CA75-B1C3A93EA29F}"/>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5" name="Symbol zastępczy stopki 4">
            <a:extLst>
              <a:ext uri="{FF2B5EF4-FFF2-40B4-BE49-F238E27FC236}">
                <a16:creationId xmlns:a16="http://schemas.microsoft.com/office/drawing/2014/main" id="{2EC0E7AE-4A8E-5EC2-5778-71BA72F1A59F}"/>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0C5A110E-F859-5194-8C20-10C2171BFEAE}"/>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05023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F463A25-FB08-1EE1-A6E8-1F95F09C05A5}"/>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endParaRPr lang="en-GB"/>
          </a:p>
        </p:txBody>
      </p:sp>
      <p:sp>
        <p:nvSpPr>
          <p:cNvPr id="3" name="Symbol zastępczy tekstu 2">
            <a:extLst>
              <a:ext uri="{FF2B5EF4-FFF2-40B4-BE49-F238E27FC236}">
                <a16:creationId xmlns:a16="http://schemas.microsoft.com/office/drawing/2014/main" id="{BEA0E39A-59F3-D655-0414-999176D366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Kliknij, aby edytować style wzorca tekstu</a:t>
            </a:r>
          </a:p>
        </p:txBody>
      </p:sp>
      <p:sp>
        <p:nvSpPr>
          <p:cNvPr id="4" name="Symbol zastępczy daty 3">
            <a:extLst>
              <a:ext uri="{FF2B5EF4-FFF2-40B4-BE49-F238E27FC236}">
                <a16:creationId xmlns:a16="http://schemas.microsoft.com/office/drawing/2014/main" id="{A67E7050-F760-DBD5-CAAE-52EAE6053BA5}"/>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5" name="Symbol zastępczy stopki 4">
            <a:extLst>
              <a:ext uri="{FF2B5EF4-FFF2-40B4-BE49-F238E27FC236}">
                <a16:creationId xmlns:a16="http://schemas.microsoft.com/office/drawing/2014/main" id="{731E1B1B-D894-975A-9A4F-EE19C4B3BA49}"/>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4B47EC01-C127-4C96-5D90-003A47ECD01C}"/>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3735643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6169E4B-00AE-0F35-8B6B-81403B1BB26D}"/>
              </a:ext>
            </a:extLst>
          </p:cNvPr>
          <p:cNvSpPr>
            <a:spLocks noGrp="1"/>
          </p:cNvSpPr>
          <p:nvPr>
            <p:ph type="title"/>
          </p:nvPr>
        </p:nvSpPr>
        <p:spPr/>
        <p:txBody>
          <a:body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9293F1B7-1403-88EE-2621-F611F94A123B}"/>
              </a:ext>
            </a:extLst>
          </p:cNvPr>
          <p:cNvSpPr>
            <a:spLocks noGrp="1"/>
          </p:cNvSpPr>
          <p:nvPr>
            <p:ph sz="half" idx="1"/>
          </p:nvPr>
        </p:nvSpPr>
        <p:spPr>
          <a:xfrm>
            <a:off x="838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zawartości 3">
            <a:extLst>
              <a:ext uri="{FF2B5EF4-FFF2-40B4-BE49-F238E27FC236}">
                <a16:creationId xmlns:a16="http://schemas.microsoft.com/office/drawing/2014/main" id="{4EA9CDC6-CE61-0671-496B-8B34B5179605}"/>
              </a:ext>
            </a:extLst>
          </p:cNvPr>
          <p:cNvSpPr>
            <a:spLocks noGrp="1"/>
          </p:cNvSpPr>
          <p:nvPr>
            <p:ph sz="half" idx="2"/>
          </p:nvPr>
        </p:nvSpPr>
        <p:spPr>
          <a:xfrm>
            <a:off x="6172200" y="1825625"/>
            <a:ext cx="5181600" cy="435133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daty 4">
            <a:extLst>
              <a:ext uri="{FF2B5EF4-FFF2-40B4-BE49-F238E27FC236}">
                <a16:creationId xmlns:a16="http://schemas.microsoft.com/office/drawing/2014/main" id="{BDBBF54D-B151-7996-C9F0-22D5021222FE}"/>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6" name="Symbol zastępczy stopki 5">
            <a:extLst>
              <a:ext uri="{FF2B5EF4-FFF2-40B4-BE49-F238E27FC236}">
                <a16:creationId xmlns:a16="http://schemas.microsoft.com/office/drawing/2014/main" id="{40943587-D689-0712-1F52-936F56D42CC7}"/>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4287F366-6A0B-CACF-CAFB-FF2BBDAE49E3}"/>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150383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480877D-5264-A4BC-CA1C-7F8180A5E936}"/>
              </a:ext>
            </a:extLst>
          </p:cNvPr>
          <p:cNvSpPr>
            <a:spLocks noGrp="1"/>
          </p:cNvSpPr>
          <p:nvPr>
            <p:ph type="title"/>
          </p:nvPr>
        </p:nvSpPr>
        <p:spPr>
          <a:xfrm>
            <a:off x="839788" y="365125"/>
            <a:ext cx="10515600" cy="1325563"/>
          </a:xfrm>
        </p:spPr>
        <p:txBody>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47E6C10A-5534-58C7-C5BD-7B50624C5F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4" name="Symbol zastępczy zawartości 3">
            <a:extLst>
              <a:ext uri="{FF2B5EF4-FFF2-40B4-BE49-F238E27FC236}">
                <a16:creationId xmlns:a16="http://schemas.microsoft.com/office/drawing/2014/main" id="{7DA490DE-D352-CDB5-F2CC-FFC3086DEBC0}"/>
              </a:ext>
            </a:extLst>
          </p:cNvPr>
          <p:cNvSpPr>
            <a:spLocks noGrp="1"/>
          </p:cNvSpPr>
          <p:nvPr>
            <p:ph sz="half" idx="2"/>
          </p:nvPr>
        </p:nvSpPr>
        <p:spPr>
          <a:xfrm>
            <a:off x="839788" y="2505075"/>
            <a:ext cx="5157787"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5" name="Symbol zastępczy tekstu 4">
            <a:extLst>
              <a:ext uri="{FF2B5EF4-FFF2-40B4-BE49-F238E27FC236}">
                <a16:creationId xmlns:a16="http://schemas.microsoft.com/office/drawing/2014/main" id="{190733E1-6CEA-5E79-37A9-84143D9DCA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Kliknij, aby edytować style wzorca tekstu</a:t>
            </a:r>
          </a:p>
        </p:txBody>
      </p:sp>
      <p:sp>
        <p:nvSpPr>
          <p:cNvPr id="6" name="Symbol zastępczy zawartości 5">
            <a:extLst>
              <a:ext uri="{FF2B5EF4-FFF2-40B4-BE49-F238E27FC236}">
                <a16:creationId xmlns:a16="http://schemas.microsoft.com/office/drawing/2014/main" id="{E4568DC5-03DA-4769-FE5C-FB1DA4FC926F}"/>
              </a:ext>
            </a:extLst>
          </p:cNvPr>
          <p:cNvSpPr>
            <a:spLocks noGrp="1"/>
          </p:cNvSpPr>
          <p:nvPr>
            <p:ph sz="quarter" idx="4"/>
          </p:nvPr>
        </p:nvSpPr>
        <p:spPr>
          <a:xfrm>
            <a:off x="6172200" y="2505075"/>
            <a:ext cx="5183188" cy="3684588"/>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7" name="Symbol zastępczy daty 6">
            <a:extLst>
              <a:ext uri="{FF2B5EF4-FFF2-40B4-BE49-F238E27FC236}">
                <a16:creationId xmlns:a16="http://schemas.microsoft.com/office/drawing/2014/main" id="{95D7FA7F-473A-9911-6E8F-C03C77199F4C}"/>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8" name="Symbol zastępczy stopki 7">
            <a:extLst>
              <a:ext uri="{FF2B5EF4-FFF2-40B4-BE49-F238E27FC236}">
                <a16:creationId xmlns:a16="http://schemas.microsoft.com/office/drawing/2014/main" id="{013135E1-EEC1-CE00-FD55-45F41D83CD2D}"/>
              </a:ext>
            </a:extLst>
          </p:cNvPr>
          <p:cNvSpPr>
            <a:spLocks noGrp="1"/>
          </p:cNvSpPr>
          <p:nvPr>
            <p:ph type="ftr" sz="quarter" idx="11"/>
          </p:nvPr>
        </p:nvSpPr>
        <p:spPr/>
        <p:txBody>
          <a:bodyPr/>
          <a:lstStyle/>
          <a:p>
            <a:endParaRPr lang="en-GB"/>
          </a:p>
        </p:txBody>
      </p:sp>
      <p:sp>
        <p:nvSpPr>
          <p:cNvPr id="9" name="Symbol zastępczy numeru slajdu 8">
            <a:extLst>
              <a:ext uri="{FF2B5EF4-FFF2-40B4-BE49-F238E27FC236}">
                <a16:creationId xmlns:a16="http://schemas.microsoft.com/office/drawing/2014/main" id="{0F9114E1-647E-63AE-0406-D314C9BB7AF8}"/>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3621798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59B9C78-3902-3508-7FF1-F56E402DE779}"/>
              </a:ext>
            </a:extLst>
          </p:cNvPr>
          <p:cNvSpPr>
            <a:spLocks noGrp="1"/>
          </p:cNvSpPr>
          <p:nvPr>
            <p:ph type="title"/>
          </p:nvPr>
        </p:nvSpPr>
        <p:spPr/>
        <p:txBody>
          <a:bodyPr/>
          <a:lstStyle/>
          <a:p>
            <a:r>
              <a:rPr lang="pl-PL"/>
              <a:t>Kliknij, aby edytować styl</a:t>
            </a:r>
            <a:endParaRPr lang="en-GB"/>
          </a:p>
        </p:txBody>
      </p:sp>
      <p:sp>
        <p:nvSpPr>
          <p:cNvPr id="3" name="Symbol zastępczy daty 2">
            <a:extLst>
              <a:ext uri="{FF2B5EF4-FFF2-40B4-BE49-F238E27FC236}">
                <a16:creationId xmlns:a16="http://schemas.microsoft.com/office/drawing/2014/main" id="{90F099F8-9E9C-D882-9E1F-661CC4ACA418}"/>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4" name="Symbol zastępczy stopki 3">
            <a:extLst>
              <a:ext uri="{FF2B5EF4-FFF2-40B4-BE49-F238E27FC236}">
                <a16:creationId xmlns:a16="http://schemas.microsoft.com/office/drawing/2014/main" id="{4595CD80-65C3-D80F-38B7-25F223BE6F62}"/>
              </a:ext>
            </a:extLst>
          </p:cNvPr>
          <p:cNvSpPr>
            <a:spLocks noGrp="1"/>
          </p:cNvSpPr>
          <p:nvPr>
            <p:ph type="ftr" sz="quarter" idx="11"/>
          </p:nvPr>
        </p:nvSpPr>
        <p:spPr/>
        <p:txBody>
          <a:bodyPr/>
          <a:lstStyle/>
          <a:p>
            <a:endParaRPr lang="en-GB"/>
          </a:p>
        </p:txBody>
      </p:sp>
      <p:sp>
        <p:nvSpPr>
          <p:cNvPr id="5" name="Symbol zastępczy numeru slajdu 4">
            <a:extLst>
              <a:ext uri="{FF2B5EF4-FFF2-40B4-BE49-F238E27FC236}">
                <a16:creationId xmlns:a16="http://schemas.microsoft.com/office/drawing/2014/main" id="{272A0C49-B015-1DA1-335A-00E28CF25899}"/>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38962683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0086B763-5E96-7EF4-4DD5-F49B955990F1}"/>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3" name="Symbol zastępczy stopki 2">
            <a:extLst>
              <a:ext uri="{FF2B5EF4-FFF2-40B4-BE49-F238E27FC236}">
                <a16:creationId xmlns:a16="http://schemas.microsoft.com/office/drawing/2014/main" id="{DA13B523-FD47-2F48-852B-7F3F435DDEC8}"/>
              </a:ext>
            </a:extLst>
          </p:cNvPr>
          <p:cNvSpPr>
            <a:spLocks noGrp="1"/>
          </p:cNvSpPr>
          <p:nvPr>
            <p:ph type="ftr" sz="quarter" idx="11"/>
          </p:nvPr>
        </p:nvSpPr>
        <p:spPr/>
        <p:txBody>
          <a:bodyPr/>
          <a:lstStyle/>
          <a:p>
            <a:endParaRPr lang="en-GB"/>
          </a:p>
        </p:txBody>
      </p:sp>
      <p:sp>
        <p:nvSpPr>
          <p:cNvPr id="4" name="Symbol zastępczy numeru slajdu 3">
            <a:extLst>
              <a:ext uri="{FF2B5EF4-FFF2-40B4-BE49-F238E27FC236}">
                <a16:creationId xmlns:a16="http://schemas.microsoft.com/office/drawing/2014/main" id="{98235721-CF5A-11A4-830F-14CF12ED594C}"/>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721650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829C407-1FC3-E890-12F7-1DD2C558CAE3}"/>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zawartości 2">
            <a:extLst>
              <a:ext uri="{FF2B5EF4-FFF2-40B4-BE49-F238E27FC236}">
                <a16:creationId xmlns:a16="http://schemas.microsoft.com/office/drawing/2014/main" id="{2F6770E2-6296-2DCE-7309-DFE41CB9AD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tekstu 3">
            <a:extLst>
              <a:ext uri="{FF2B5EF4-FFF2-40B4-BE49-F238E27FC236}">
                <a16:creationId xmlns:a16="http://schemas.microsoft.com/office/drawing/2014/main" id="{9A695488-34C4-0F46-D9EC-7A2118A57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432B74D8-4BE8-7E72-21A6-9C27DCBA5C23}"/>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6" name="Symbol zastępczy stopki 5">
            <a:extLst>
              <a:ext uri="{FF2B5EF4-FFF2-40B4-BE49-F238E27FC236}">
                <a16:creationId xmlns:a16="http://schemas.microsoft.com/office/drawing/2014/main" id="{1427F37E-8D53-C97D-1141-D14211DA56F6}"/>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F4F53947-3040-8E7E-88EF-6E88C73142C0}"/>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2150739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61D4589-2891-C6F8-5E1B-5C21793C9DAA}"/>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endParaRPr lang="en-GB"/>
          </a:p>
        </p:txBody>
      </p:sp>
      <p:sp>
        <p:nvSpPr>
          <p:cNvPr id="3" name="Symbol zastępczy obrazu 2">
            <a:extLst>
              <a:ext uri="{FF2B5EF4-FFF2-40B4-BE49-F238E27FC236}">
                <a16:creationId xmlns:a16="http://schemas.microsoft.com/office/drawing/2014/main" id="{3F7EC560-BD00-7D14-C84E-2C4D47950C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Symbol zastępczy tekstu 3">
            <a:extLst>
              <a:ext uri="{FF2B5EF4-FFF2-40B4-BE49-F238E27FC236}">
                <a16:creationId xmlns:a16="http://schemas.microsoft.com/office/drawing/2014/main" id="{CDFDDD40-736C-C06F-171F-3F876AEE38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Kliknij, aby edytować style wzorca tekstu</a:t>
            </a:r>
          </a:p>
        </p:txBody>
      </p:sp>
      <p:sp>
        <p:nvSpPr>
          <p:cNvPr id="5" name="Symbol zastępczy daty 4">
            <a:extLst>
              <a:ext uri="{FF2B5EF4-FFF2-40B4-BE49-F238E27FC236}">
                <a16:creationId xmlns:a16="http://schemas.microsoft.com/office/drawing/2014/main" id="{92DA1BAC-9759-183D-299D-37BD1C7B8145}"/>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6" name="Symbol zastępczy stopki 5">
            <a:extLst>
              <a:ext uri="{FF2B5EF4-FFF2-40B4-BE49-F238E27FC236}">
                <a16:creationId xmlns:a16="http://schemas.microsoft.com/office/drawing/2014/main" id="{3D1DAD6C-7168-D319-D3BF-FBE7C0C3D146}"/>
              </a:ext>
            </a:extLst>
          </p:cNvPr>
          <p:cNvSpPr>
            <a:spLocks noGrp="1"/>
          </p:cNvSpPr>
          <p:nvPr>
            <p:ph type="ftr" sz="quarter" idx="11"/>
          </p:nvPr>
        </p:nvSpPr>
        <p:spPr/>
        <p:txBody>
          <a:bodyPr/>
          <a:lstStyle/>
          <a:p>
            <a:endParaRPr lang="en-GB"/>
          </a:p>
        </p:txBody>
      </p:sp>
      <p:sp>
        <p:nvSpPr>
          <p:cNvPr id="7" name="Symbol zastępczy numeru slajdu 6">
            <a:extLst>
              <a:ext uri="{FF2B5EF4-FFF2-40B4-BE49-F238E27FC236}">
                <a16:creationId xmlns:a16="http://schemas.microsoft.com/office/drawing/2014/main" id="{F8716449-CF42-05AA-92FC-0D1970C94266}"/>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3324930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8AB8DF6-CC8D-3D59-B04D-0EAE86A78D23}"/>
              </a:ext>
            </a:extLst>
          </p:cNvPr>
          <p:cNvSpPr>
            <a:spLocks noGrp="1"/>
          </p:cNvSpPr>
          <p:nvPr>
            <p:ph type="title"/>
          </p:nvPr>
        </p:nvSpPr>
        <p:spPr/>
        <p:txBody>
          <a:bodyPr/>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8ABC36A5-5667-183A-6054-97DDCDC0899E}"/>
              </a:ext>
            </a:extLst>
          </p:cNvPr>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95FAF951-2689-9084-7E89-F19664F505FA}"/>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5" name="Symbol zastępczy stopki 4">
            <a:extLst>
              <a:ext uri="{FF2B5EF4-FFF2-40B4-BE49-F238E27FC236}">
                <a16:creationId xmlns:a16="http://schemas.microsoft.com/office/drawing/2014/main" id="{121B1319-EAD1-91F6-D711-DB0D5502EB02}"/>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19B41CFD-4D1F-8A53-2986-2C8C23EC48AC}"/>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4605852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FB2FE6BF-4F5F-CF2F-364B-3AB5BAAF80B0}"/>
              </a:ext>
            </a:extLst>
          </p:cNvPr>
          <p:cNvSpPr>
            <a:spLocks noGrp="1"/>
          </p:cNvSpPr>
          <p:nvPr>
            <p:ph type="title" orient="vert"/>
          </p:nvPr>
        </p:nvSpPr>
        <p:spPr>
          <a:xfrm>
            <a:off x="8724900" y="365125"/>
            <a:ext cx="2628900" cy="5811838"/>
          </a:xfrm>
        </p:spPr>
        <p:txBody>
          <a:bodyPr vert="eaVert"/>
          <a:lstStyle/>
          <a:p>
            <a:r>
              <a:rPr lang="pl-PL"/>
              <a:t>Kliknij, aby edytować styl</a:t>
            </a:r>
            <a:endParaRPr lang="en-GB"/>
          </a:p>
        </p:txBody>
      </p:sp>
      <p:sp>
        <p:nvSpPr>
          <p:cNvPr id="3" name="Symbol zastępczy tytułu pionowego 2">
            <a:extLst>
              <a:ext uri="{FF2B5EF4-FFF2-40B4-BE49-F238E27FC236}">
                <a16:creationId xmlns:a16="http://schemas.microsoft.com/office/drawing/2014/main" id="{4441972B-E788-21E9-2E9E-A2DD2034E823}"/>
              </a:ext>
            </a:extLst>
          </p:cNvPr>
          <p:cNvSpPr>
            <a:spLocks noGrp="1"/>
          </p:cNvSpPr>
          <p:nvPr>
            <p:ph type="body" orient="vert" idx="1"/>
          </p:nvPr>
        </p:nvSpPr>
        <p:spPr>
          <a:xfrm>
            <a:off x="838200" y="365125"/>
            <a:ext cx="7734300" cy="5811838"/>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5A5E385C-F1B0-8E2C-44E6-E886FB9C068D}"/>
              </a:ext>
            </a:extLst>
          </p:cNvPr>
          <p:cNvSpPr>
            <a:spLocks noGrp="1"/>
          </p:cNvSpPr>
          <p:nvPr>
            <p:ph type="dt" sz="half" idx="10"/>
          </p:nvPr>
        </p:nvSpPr>
        <p:spPr/>
        <p:txBody>
          <a:bodyPr/>
          <a:lstStyle/>
          <a:p>
            <a:fld id="{B11F8598-CEE1-4313-B0EC-9E2E7844C6A9}" type="datetimeFigureOut">
              <a:rPr lang="en-GB" smtClean="0"/>
              <a:t>13/04/2026</a:t>
            </a:fld>
            <a:endParaRPr lang="en-GB"/>
          </a:p>
        </p:txBody>
      </p:sp>
      <p:sp>
        <p:nvSpPr>
          <p:cNvPr id="5" name="Symbol zastępczy stopki 4">
            <a:extLst>
              <a:ext uri="{FF2B5EF4-FFF2-40B4-BE49-F238E27FC236}">
                <a16:creationId xmlns:a16="http://schemas.microsoft.com/office/drawing/2014/main" id="{AB5D1531-B7AF-21C8-8279-BEF2903DCEAD}"/>
              </a:ext>
            </a:extLst>
          </p:cNvPr>
          <p:cNvSpPr>
            <a:spLocks noGrp="1"/>
          </p:cNvSpPr>
          <p:nvPr>
            <p:ph type="ftr" sz="quarter" idx="11"/>
          </p:nvPr>
        </p:nvSpPr>
        <p:spPr/>
        <p:txBody>
          <a:bodyPr/>
          <a:lstStyle/>
          <a:p>
            <a:endParaRPr lang="en-GB"/>
          </a:p>
        </p:txBody>
      </p:sp>
      <p:sp>
        <p:nvSpPr>
          <p:cNvPr id="6" name="Symbol zastępczy numeru slajdu 5">
            <a:extLst>
              <a:ext uri="{FF2B5EF4-FFF2-40B4-BE49-F238E27FC236}">
                <a16:creationId xmlns:a16="http://schemas.microsoft.com/office/drawing/2014/main" id="{892F2754-5E6E-6FC2-CF1D-03651FBF92E3}"/>
              </a:ext>
            </a:extLst>
          </p:cNvPr>
          <p:cNvSpPr>
            <a:spLocks noGrp="1"/>
          </p:cNvSpPr>
          <p:nvPr>
            <p:ph type="sldNum" sz="quarter" idx="12"/>
          </p:nvPr>
        </p:nvSpPr>
        <p:spPr/>
        <p:txBody>
          <a:bodyPr/>
          <a:lstStyle/>
          <a:p>
            <a:fld id="{38D1ED3B-6DD1-43CE-AFDE-2D43C42D67E5}" type="slidenum">
              <a:rPr lang="en-GB" smtClean="0"/>
              <a:t>‹#›</a:t>
            </a:fld>
            <a:endParaRPr lang="en-GB"/>
          </a:p>
        </p:txBody>
      </p:sp>
    </p:spTree>
    <p:extLst>
      <p:ext uri="{BB962C8B-B14F-4D97-AF65-F5344CB8AC3E}">
        <p14:creationId xmlns:p14="http://schemas.microsoft.com/office/powerpoint/2010/main" val="1947279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14702B23-6CDE-DA75-F729-234F81B360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endParaRPr lang="en-GB"/>
          </a:p>
        </p:txBody>
      </p:sp>
      <p:sp>
        <p:nvSpPr>
          <p:cNvPr id="3" name="Symbol zastępczy tekstu 2">
            <a:extLst>
              <a:ext uri="{FF2B5EF4-FFF2-40B4-BE49-F238E27FC236}">
                <a16:creationId xmlns:a16="http://schemas.microsoft.com/office/drawing/2014/main" id="{43B77AB8-C759-89AB-97BD-D98ADC3E57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GB"/>
          </a:p>
        </p:txBody>
      </p:sp>
      <p:sp>
        <p:nvSpPr>
          <p:cNvPr id="4" name="Symbol zastępczy daty 3">
            <a:extLst>
              <a:ext uri="{FF2B5EF4-FFF2-40B4-BE49-F238E27FC236}">
                <a16:creationId xmlns:a16="http://schemas.microsoft.com/office/drawing/2014/main" id="{A533BD9D-9CB8-49F1-0A43-E9488AC042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1F8598-CEE1-4313-B0EC-9E2E7844C6A9}" type="datetimeFigureOut">
              <a:rPr lang="en-GB" smtClean="0"/>
              <a:t>13/04/2026</a:t>
            </a:fld>
            <a:endParaRPr lang="en-GB"/>
          </a:p>
        </p:txBody>
      </p:sp>
      <p:sp>
        <p:nvSpPr>
          <p:cNvPr id="5" name="Symbol zastępczy stopki 4">
            <a:extLst>
              <a:ext uri="{FF2B5EF4-FFF2-40B4-BE49-F238E27FC236}">
                <a16:creationId xmlns:a16="http://schemas.microsoft.com/office/drawing/2014/main" id="{036A3CBB-D49C-F181-3C39-8FC22F0415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ymbol zastępczy numeru slajdu 5">
            <a:extLst>
              <a:ext uri="{FF2B5EF4-FFF2-40B4-BE49-F238E27FC236}">
                <a16:creationId xmlns:a16="http://schemas.microsoft.com/office/drawing/2014/main" id="{551852B1-CCC9-AC98-72F3-28F3562D33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D1ED3B-6DD1-43CE-AFDE-2D43C42D67E5}" type="slidenum">
              <a:rPr lang="en-GB" smtClean="0"/>
              <a:t>‹#›</a:t>
            </a:fld>
            <a:endParaRPr lang="en-GB"/>
          </a:p>
        </p:txBody>
      </p:sp>
    </p:spTree>
    <p:extLst>
      <p:ext uri="{BB962C8B-B14F-4D97-AF65-F5344CB8AC3E}">
        <p14:creationId xmlns:p14="http://schemas.microsoft.com/office/powerpoint/2010/main" val="3960343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D3ACA5E-EE3D-7F06-9786-F0E85344B328}"/>
              </a:ext>
            </a:extLst>
          </p:cNvPr>
          <p:cNvSpPr>
            <a:spLocks noGrp="1"/>
          </p:cNvSpPr>
          <p:nvPr>
            <p:ph type="ctrTitle"/>
          </p:nvPr>
        </p:nvSpPr>
        <p:spPr/>
        <p:txBody>
          <a:bodyPr/>
          <a:lstStyle/>
          <a:p>
            <a:r>
              <a:rPr lang="pl-PL" dirty="0"/>
              <a:t>Machine </a:t>
            </a:r>
            <a:r>
              <a:rPr lang="en-US" dirty="0"/>
              <a:t>Vision</a:t>
            </a:r>
          </a:p>
        </p:txBody>
      </p:sp>
      <p:sp>
        <p:nvSpPr>
          <p:cNvPr id="3" name="Podtytuł 2">
            <a:extLst>
              <a:ext uri="{FF2B5EF4-FFF2-40B4-BE49-F238E27FC236}">
                <a16:creationId xmlns:a16="http://schemas.microsoft.com/office/drawing/2014/main" id="{865909F7-D972-04F8-1E2E-1691CA078F61}"/>
              </a:ext>
            </a:extLst>
          </p:cNvPr>
          <p:cNvSpPr>
            <a:spLocks noGrp="1"/>
          </p:cNvSpPr>
          <p:nvPr>
            <p:ph type="subTitle" idx="1"/>
          </p:nvPr>
        </p:nvSpPr>
        <p:spPr/>
        <p:txBody>
          <a:bodyPr>
            <a:normAutofit/>
          </a:bodyPr>
          <a:lstStyle/>
          <a:p>
            <a:r>
              <a:rPr lang="en-US" dirty="0"/>
              <a:t>Feature detection</a:t>
            </a:r>
            <a:endParaRPr lang="pl-PL" dirty="0"/>
          </a:p>
          <a:p>
            <a:endParaRPr lang="en-GB" dirty="0"/>
          </a:p>
        </p:txBody>
      </p:sp>
    </p:spTree>
    <p:extLst>
      <p:ext uri="{BB962C8B-B14F-4D97-AF65-F5344CB8AC3E}">
        <p14:creationId xmlns:p14="http://schemas.microsoft.com/office/powerpoint/2010/main" val="1915223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lstStyle/>
          <a:p>
            <a:pPr algn="ctr"/>
            <a:r>
              <a:rPr lang="en-US" dirty="0"/>
              <a:t>What is a Feature</a:t>
            </a:r>
            <a:r>
              <a:rPr lang="pl-PL" dirty="0"/>
              <a:t> </a:t>
            </a:r>
            <a:r>
              <a:rPr lang="pl-PL" dirty="0" err="1"/>
              <a:t>detection</a:t>
            </a:r>
            <a:r>
              <a:rPr lang="en-US" dirty="0"/>
              <a:t>?</a:t>
            </a:r>
            <a:endParaRPr lang="en-GB" dirty="0"/>
          </a:p>
        </p:txBody>
      </p:sp>
      <p:pic>
        <p:nvPicPr>
          <p:cNvPr id="6146" name="Picture 2" descr="jigsaw_puzzle_piece_grandmother">
            <a:extLst>
              <a:ext uri="{FF2B5EF4-FFF2-40B4-BE49-F238E27FC236}">
                <a16:creationId xmlns:a16="http://schemas.microsoft.com/office/drawing/2014/main" id="{E461349F-2292-229F-526E-3AA8776AD7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0871" y="977855"/>
            <a:ext cx="5715000" cy="3905250"/>
          </a:xfrm>
          <a:prstGeom prst="rect">
            <a:avLst/>
          </a:prstGeom>
          <a:noFill/>
          <a:extLst>
            <a:ext uri="{909E8E84-426E-40DD-AFC4-6F175D3DCCD1}">
              <a14:hiddenFill xmlns:a14="http://schemas.microsoft.com/office/drawing/2010/main">
                <a:solidFill>
                  <a:srgbClr val="FFFFFF"/>
                </a:solidFill>
              </a14:hiddenFill>
            </a:ext>
          </a:extLst>
        </p:spPr>
      </p:pic>
      <p:sp>
        <p:nvSpPr>
          <p:cNvPr id="4" name="pole tekstowe 3">
            <a:extLst>
              <a:ext uri="{FF2B5EF4-FFF2-40B4-BE49-F238E27FC236}">
                <a16:creationId xmlns:a16="http://schemas.microsoft.com/office/drawing/2014/main" id="{592793B4-D5E9-E5A9-2390-18A9617AB20F}"/>
              </a:ext>
            </a:extLst>
          </p:cNvPr>
          <p:cNvSpPr txBox="1"/>
          <p:nvPr/>
        </p:nvSpPr>
        <p:spPr>
          <a:xfrm>
            <a:off x="265871" y="977855"/>
            <a:ext cx="5715000" cy="3939540"/>
          </a:xfrm>
          <a:prstGeom prst="rect">
            <a:avLst/>
          </a:prstGeom>
          <a:noFill/>
        </p:spPr>
        <p:txBody>
          <a:bodyPr wrap="square">
            <a:spAutoFit/>
          </a:bodyPr>
          <a:lstStyle/>
          <a:p>
            <a:pPr algn="just">
              <a:spcBef>
                <a:spcPts val="600"/>
              </a:spcBef>
            </a:pPr>
            <a:r>
              <a:rPr lang="en-US" sz="2400" b="1" i="0" dirty="0">
                <a:solidFill>
                  <a:srgbClr val="1F1F1F"/>
                </a:solidFill>
                <a:effectLst/>
                <a:highlight>
                  <a:srgbClr val="FFFFFF"/>
                </a:highlight>
                <a:latin typeface="Google Sans"/>
              </a:rPr>
              <a:t>Feature detection in computer vision </a:t>
            </a:r>
            <a:r>
              <a:rPr lang="en-US" sz="2400" b="0" i="0" dirty="0">
                <a:solidFill>
                  <a:srgbClr val="1F1F1F"/>
                </a:solidFill>
                <a:effectLst/>
                <a:highlight>
                  <a:srgbClr val="FFFFFF"/>
                </a:highlight>
                <a:latin typeface="Google Sans"/>
              </a:rPr>
              <a:t>is like </a:t>
            </a:r>
            <a:r>
              <a:rPr lang="en-US" sz="2400" b="1" i="0" dirty="0">
                <a:solidFill>
                  <a:srgbClr val="1F1F1F"/>
                </a:solidFill>
                <a:effectLst/>
                <a:highlight>
                  <a:srgbClr val="FFFFFF"/>
                </a:highlight>
                <a:latin typeface="Google Sans"/>
              </a:rPr>
              <a:t>finding the key pieces in a puzzle</a:t>
            </a:r>
            <a:r>
              <a:rPr lang="en-US" sz="2400" b="0" i="0" dirty="0">
                <a:solidFill>
                  <a:srgbClr val="1F1F1F"/>
                </a:solidFill>
                <a:effectLst/>
                <a:highlight>
                  <a:srgbClr val="FFFFFF"/>
                </a:highlight>
                <a:latin typeface="Google Sans"/>
              </a:rPr>
              <a:t>.</a:t>
            </a:r>
            <a:endParaRPr lang="pl-PL" sz="2400" b="0" i="0" dirty="0">
              <a:solidFill>
                <a:srgbClr val="1F1F1F"/>
              </a:solidFill>
              <a:effectLst/>
              <a:highlight>
                <a:srgbClr val="FFFFFF"/>
              </a:highlight>
              <a:latin typeface="Google Sans"/>
            </a:endParaRPr>
          </a:p>
          <a:p>
            <a:pPr algn="just">
              <a:spcBef>
                <a:spcPts val="600"/>
              </a:spcBef>
            </a:pPr>
            <a:r>
              <a:rPr lang="en-US" sz="2400" b="0" i="0" dirty="0">
                <a:solidFill>
                  <a:srgbClr val="1F1F1F"/>
                </a:solidFill>
                <a:effectLst/>
                <a:highlight>
                  <a:srgbClr val="FFFFFF"/>
                </a:highlight>
                <a:latin typeface="Google Sans"/>
              </a:rPr>
              <a:t>Just like some </a:t>
            </a:r>
            <a:r>
              <a:rPr lang="en-US" sz="2400" b="1" i="0" dirty="0">
                <a:solidFill>
                  <a:srgbClr val="1F1F1F"/>
                </a:solidFill>
                <a:effectLst/>
                <a:highlight>
                  <a:srgbClr val="FFFFFF"/>
                </a:highlight>
                <a:latin typeface="Google Sans"/>
              </a:rPr>
              <a:t>puzzle</a:t>
            </a:r>
            <a:r>
              <a:rPr lang="en-US" sz="2400" b="0" i="0" dirty="0">
                <a:solidFill>
                  <a:srgbClr val="1F1F1F"/>
                </a:solidFill>
                <a:effectLst/>
                <a:highlight>
                  <a:srgbClr val="FFFFFF"/>
                </a:highlight>
                <a:latin typeface="Google Sans"/>
              </a:rPr>
              <a:t> pieces have </a:t>
            </a:r>
            <a:r>
              <a:rPr lang="en-US" sz="2400" b="1" i="0" dirty="0">
                <a:solidFill>
                  <a:srgbClr val="1F1F1F"/>
                </a:solidFill>
                <a:effectLst/>
                <a:highlight>
                  <a:srgbClr val="FFFFFF"/>
                </a:highlight>
                <a:latin typeface="Google Sans"/>
              </a:rPr>
              <a:t>unique shapes </a:t>
            </a:r>
            <a:r>
              <a:rPr lang="en-US" sz="2400" b="0" i="0" dirty="0">
                <a:solidFill>
                  <a:srgbClr val="1F1F1F"/>
                </a:solidFill>
                <a:effectLst/>
                <a:highlight>
                  <a:srgbClr val="FFFFFF"/>
                </a:highlight>
                <a:latin typeface="Google Sans"/>
              </a:rPr>
              <a:t>that connect them together, </a:t>
            </a:r>
            <a:r>
              <a:rPr lang="en-US" sz="2400" b="1" i="0" dirty="0">
                <a:solidFill>
                  <a:srgbClr val="1F1F1F"/>
                </a:solidFill>
                <a:effectLst/>
                <a:highlight>
                  <a:srgbClr val="FFFFFF"/>
                </a:highlight>
                <a:latin typeface="Google Sans"/>
              </a:rPr>
              <a:t>feature detection </a:t>
            </a:r>
            <a:r>
              <a:rPr lang="en-US" sz="2400" b="0" i="0" dirty="0">
                <a:solidFill>
                  <a:srgbClr val="1F1F1F"/>
                </a:solidFill>
                <a:effectLst/>
                <a:highlight>
                  <a:srgbClr val="FFFFFF"/>
                </a:highlight>
                <a:latin typeface="Google Sans"/>
              </a:rPr>
              <a:t>looks for </a:t>
            </a:r>
            <a:r>
              <a:rPr lang="en-US" sz="2400" b="1" i="0" dirty="0">
                <a:solidFill>
                  <a:srgbClr val="1F1F1F"/>
                </a:solidFill>
                <a:effectLst/>
                <a:highlight>
                  <a:srgbClr val="FFFFFF"/>
                </a:highlight>
                <a:latin typeface="Google Sans"/>
              </a:rPr>
              <a:t>distinct patterns </a:t>
            </a:r>
            <a:r>
              <a:rPr lang="en-US" sz="2400" b="0" i="0" dirty="0">
                <a:solidFill>
                  <a:srgbClr val="1F1F1F"/>
                </a:solidFill>
                <a:effectLst/>
                <a:highlight>
                  <a:srgbClr val="FFFFFF"/>
                </a:highlight>
                <a:latin typeface="Google Sans"/>
              </a:rPr>
              <a:t>in an image, like </a:t>
            </a:r>
            <a:r>
              <a:rPr lang="en-US" sz="2400" b="1" i="0" dirty="0">
                <a:solidFill>
                  <a:srgbClr val="1F1F1F"/>
                </a:solidFill>
                <a:effectLst/>
                <a:highlight>
                  <a:srgbClr val="FFFFFF"/>
                </a:highlight>
                <a:latin typeface="Google Sans"/>
              </a:rPr>
              <a:t>corners</a:t>
            </a:r>
            <a:r>
              <a:rPr lang="en-US" sz="2400" b="0" i="0" dirty="0">
                <a:solidFill>
                  <a:srgbClr val="1F1F1F"/>
                </a:solidFill>
                <a:effectLst/>
                <a:highlight>
                  <a:srgbClr val="FFFFFF"/>
                </a:highlight>
                <a:latin typeface="Google Sans"/>
              </a:rPr>
              <a:t>, </a:t>
            </a:r>
            <a:r>
              <a:rPr lang="en-US" sz="2400" b="1" i="0" dirty="0">
                <a:solidFill>
                  <a:srgbClr val="1F1F1F"/>
                </a:solidFill>
                <a:effectLst/>
                <a:highlight>
                  <a:srgbClr val="FFFFFF"/>
                </a:highlight>
                <a:latin typeface="Google Sans"/>
              </a:rPr>
              <a:t>edges, or blobs</a:t>
            </a:r>
            <a:r>
              <a:rPr lang="en-US" sz="2400" b="0" i="0" dirty="0">
                <a:solidFill>
                  <a:srgbClr val="1F1F1F"/>
                </a:solidFill>
                <a:effectLst/>
                <a:highlight>
                  <a:srgbClr val="FFFFFF"/>
                </a:highlight>
                <a:latin typeface="Google Sans"/>
              </a:rPr>
              <a:t>.</a:t>
            </a:r>
            <a:endParaRPr lang="pl-PL" sz="2400" b="0" i="0" dirty="0">
              <a:solidFill>
                <a:srgbClr val="1F1F1F"/>
              </a:solidFill>
              <a:effectLst/>
              <a:highlight>
                <a:srgbClr val="FFFFFF"/>
              </a:highlight>
              <a:latin typeface="Google Sans"/>
            </a:endParaRPr>
          </a:p>
          <a:p>
            <a:pPr algn="just">
              <a:spcBef>
                <a:spcPts val="600"/>
              </a:spcBef>
            </a:pPr>
            <a:r>
              <a:rPr lang="en-US" sz="2400" b="0" i="0" dirty="0">
                <a:solidFill>
                  <a:srgbClr val="1F1F1F"/>
                </a:solidFill>
                <a:effectLst/>
                <a:highlight>
                  <a:srgbClr val="FFFFFF"/>
                </a:highlight>
                <a:latin typeface="Google Sans"/>
              </a:rPr>
              <a:t>These features act like the corner pieces of the puzzle - </a:t>
            </a:r>
            <a:r>
              <a:rPr lang="en-US" sz="2400" b="1" i="0" dirty="0">
                <a:solidFill>
                  <a:srgbClr val="1F1F1F"/>
                </a:solidFill>
                <a:effectLst/>
                <a:highlight>
                  <a:srgbClr val="FFFFFF"/>
                </a:highlight>
                <a:latin typeface="Google Sans"/>
              </a:rPr>
              <a:t>they hold important information about the overall image </a:t>
            </a:r>
            <a:r>
              <a:rPr lang="en-US" sz="2400" b="0" i="0" dirty="0">
                <a:solidFill>
                  <a:srgbClr val="1F1F1F"/>
                </a:solidFill>
                <a:effectLst/>
                <a:highlight>
                  <a:srgbClr val="FFFFFF"/>
                </a:highlight>
                <a:latin typeface="Google Sans"/>
              </a:rPr>
              <a:t>and </a:t>
            </a:r>
            <a:r>
              <a:rPr lang="en-US" sz="2400" b="1" i="0" dirty="0">
                <a:solidFill>
                  <a:srgbClr val="1F1F1F"/>
                </a:solidFill>
                <a:effectLst/>
                <a:highlight>
                  <a:srgbClr val="FFFFFF"/>
                </a:highlight>
                <a:latin typeface="Google Sans"/>
              </a:rPr>
              <a:t>can be used to solve bigger problems</a:t>
            </a:r>
            <a:r>
              <a:rPr lang="en-US" sz="2400" b="0" i="0" dirty="0">
                <a:solidFill>
                  <a:srgbClr val="1F1F1F"/>
                </a:solidFill>
                <a:effectLst/>
                <a:highlight>
                  <a:srgbClr val="FFFFFF"/>
                </a:highlight>
                <a:latin typeface="Google Sans"/>
              </a:rPr>
              <a:t>. </a:t>
            </a:r>
            <a:endParaRPr lang="en-GB" sz="2400" dirty="0"/>
          </a:p>
        </p:txBody>
      </p:sp>
    </p:spTree>
    <p:extLst>
      <p:ext uri="{BB962C8B-B14F-4D97-AF65-F5344CB8AC3E}">
        <p14:creationId xmlns:p14="http://schemas.microsoft.com/office/powerpoint/2010/main" val="115786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Applications of </a:t>
            </a:r>
            <a:r>
              <a:rPr lang="en-US" dirty="0"/>
              <a:t>feature detection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8" y="741815"/>
            <a:ext cx="10982740" cy="1815882"/>
          </a:xfrm>
          <a:prstGeom prst="rect">
            <a:avLst/>
          </a:prstGeom>
          <a:noFill/>
        </p:spPr>
        <p:txBody>
          <a:bodyPr wrap="square">
            <a:spAutoFit/>
          </a:bodyPr>
          <a:lstStyle/>
          <a:p>
            <a:pPr algn="l">
              <a:spcBef>
                <a:spcPts val="600"/>
              </a:spcBef>
              <a:spcAft>
                <a:spcPts val="600"/>
              </a:spcAft>
            </a:pPr>
            <a:r>
              <a:rPr lang="en-US" sz="2800" b="1" i="0" dirty="0">
                <a:solidFill>
                  <a:srgbClr val="1F1F1F"/>
                </a:solidFill>
                <a:effectLst/>
                <a:highlight>
                  <a:srgbClr val="FFFFFF"/>
                </a:highlight>
                <a:latin typeface="Google Sans"/>
              </a:rPr>
              <a:t>Image registration:</a:t>
            </a:r>
            <a:r>
              <a:rPr lang="en-US" sz="2800" b="0" i="0" dirty="0">
                <a:solidFill>
                  <a:srgbClr val="1F1F1F"/>
                </a:solidFill>
                <a:effectLst/>
                <a:highlight>
                  <a:srgbClr val="FFFFFF"/>
                </a:highlight>
                <a:latin typeface="Google Sans"/>
              </a:rPr>
              <a:t> Feature detection helps in aligning multiple images of the same scene. By matching features between images, algorithms can stitch them together to create panoramas or compensate for camera motion.</a:t>
            </a:r>
          </a:p>
        </p:txBody>
      </p:sp>
      <p:pic>
        <p:nvPicPr>
          <p:cNvPr id="3" name="Obraz 2">
            <a:extLst>
              <a:ext uri="{FF2B5EF4-FFF2-40B4-BE49-F238E27FC236}">
                <a16:creationId xmlns:a16="http://schemas.microsoft.com/office/drawing/2014/main" id="{93284823-AAC1-B69D-4E86-004DA391FDF7}"/>
              </a:ext>
            </a:extLst>
          </p:cNvPr>
          <p:cNvPicPr>
            <a:picLocks noChangeAspect="1"/>
          </p:cNvPicPr>
          <p:nvPr/>
        </p:nvPicPr>
        <p:blipFill>
          <a:blip r:embed="rId2"/>
          <a:stretch>
            <a:fillRect/>
          </a:stretch>
        </p:blipFill>
        <p:spPr>
          <a:xfrm>
            <a:off x="3006242" y="2236152"/>
            <a:ext cx="6179513" cy="4474414"/>
          </a:xfrm>
          <a:prstGeom prst="rect">
            <a:avLst/>
          </a:prstGeom>
        </p:spPr>
      </p:pic>
    </p:spTree>
    <p:extLst>
      <p:ext uri="{BB962C8B-B14F-4D97-AF65-F5344CB8AC3E}">
        <p14:creationId xmlns:p14="http://schemas.microsoft.com/office/powerpoint/2010/main" val="3138626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lstStyle/>
          <a:p>
            <a:pPr algn="ctr"/>
            <a:r>
              <a:rPr lang="en-US" dirty="0"/>
              <a:t>Suppose you want to create a panorama</a:t>
            </a:r>
            <a:endParaRPr lang="en-GB" dirty="0"/>
          </a:p>
        </p:txBody>
      </p:sp>
      <p:pic>
        <p:nvPicPr>
          <p:cNvPr id="9" name="Obraz 8">
            <a:extLst>
              <a:ext uri="{FF2B5EF4-FFF2-40B4-BE49-F238E27FC236}">
                <a16:creationId xmlns:a16="http://schemas.microsoft.com/office/drawing/2014/main" id="{96828394-5086-2E39-BFFD-FF6521859080}"/>
              </a:ext>
            </a:extLst>
          </p:cNvPr>
          <p:cNvPicPr>
            <a:picLocks noChangeAspect="1"/>
          </p:cNvPicPr>
          <p:nvPr/>
        </p:nvPicPr>
        <p:blipFill>
          <a:blip r:embed="rId2"/>
          <a:stretch>
            <a:fillRect/>
          </a:stretch>
        </p:blipFill>
        <p:spPr>
          <a:xfrm>
            <a:off x="1927502" y="741815"/>
            <a:ext cx="8336993" cy="2991135"/>
          </a:xfrm>
          <a:prstGeom prst="rect">
            <a:avLst/>
          </a:prstGeom>
        </p:spPr>
      </p:pic>
      <p:sp>
        <p:nvSpPr>
          <p:cNvPr id="3" name="pole tekstowe 2">
            <a:extLst>
              <a:ext uri="{FF2B5EF4-FFF2-40B4-BE49-F238E27FC236}">
                <a16:creationId xmlns:a16="http://schemas.microsoft.com/office/drawing/2014/main" id="{126A4F51-3EE8-25F3-4E60-A83848A48C65}"/>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https://courses.cs.washington.edu/courses/cse455/09wi/Lects/</a:t>
            </a:r>
          </a:p>
        </p:txBody>
      </p:sp>
    </p:spTree>
    <p:extLst>
      <p:ext uri="{BB962C8B-B14F-4D97-AF65-F5344CB8AC3E}">
        <p14:creationId xmlns:p14="http://schemas.microsoft.com/office/powerpoint/2010/main" val="1399407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raz 3">
            <a:extLst>
              <a:ext uri="{FF2B5EF4-FFF2-40B4-BE49-F238E27FC236}">
                <a16:creationId xmlns:a16="http://schemas.microsoft.com/office/drawing/2014/main" id="{91D650B0-087B-DCD0-5A05-8AAA1D7CB1D9}"/>
              </a:ext>
            </a:extLst>
          </p:cNvPr>
          <p:cNvPicPr>
            <a:picLocks noChangeAspect="1"/>
          </p:cNvPicPr>
          <p:nvPr/>
        </p:nvPicPr>
        <p:blipFill>
          <a:blip r:embed="rId2"/>
          <a:stretch>
            <a:fillRect/>
          </a:stretch>
        </p:blipFill>
        <p:spPr>
          <a:xfrm>
            <a:off x="1927502" y="747501"/>
            <a:ext cx="8336993" cy="2979761"/>
          </a:xfrm>
          <a:prstGeom prst="rect">
            <a:avLst/>
          </a:prstGeom>
        </p:spPr>
      </p:pic>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lstStyle/>
          <a:p>
            <a:pPr algn="ctr"/>
            <a:r>
              <a:rPr lang="en-US" dirty="0"/>
              <a:t>Suppose you want to create a panorama</a:t>
            </a:r>
            <a:endParaRPr lang="en-GB" dirty="0"/>
          </a:p>
        </p:txBody>
      </p:sp>
      <p:sp>
        <p:nvSpPr>
          <p:cNvPr id="5" name="pole tekstowe 4">
            <a:extLst>
              <a:ext uri="{FF2B5EF4-FFF2-40B4-BE49-F238E27FC236}">
                <a16:creationId xmlns:a16="http://schemas.microsoft.com/office/drawing/2014/main" id="{EDA048E4-23D4-75B9-73C3-DD35A6CDDD24}"/>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https://courses.cs.washington.edu/courses/cse455/09wi/Lects/</a:t>
            </a:r>
          </a:p>
        </p:txBody>
      </p:sp>
    </p:spTree>
    <p:extLst>
      <p:ext uri="{BB962C8B-B14F-4D97-AF65-F5344CB8AC3E}">
        <p14:creationId xmlns:p14="http://schemas.microsoft.com/office/powerpoint/2010/main" val="1605432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lstStyle/>
          <a:p>
            <a:pPr algn="ctr"/>
            <a:r>
              <a:rPr lang="en-US" dirty="0"/>
              <a:t>Suppose you want to create a panorama</a:t>
            </a:r>
            <a:endParaRPr lang="en-GB" dirty="0"/>
          </a:p>
        </p:txBody>
      </p:sp>
      <p:pic>
        <p:nvPicPr>
          <p:cNvPr id="7" name="Obraz 6">
            <a:extLst>
              <a:ext uri="{FF2B5EF4-FFF2-40B4-BE49-F238E27FC236}">
                <a16:creationId xmlns:a16="http://schemas.microsoft.com/office/drawing/2014/main" id="{1214F128-0FB3-6F26-7525-2086C0B06452}"/>
              </a:ext>
            </a:extLst>
          </p:cNvPr>
          <p:cNvPicPr>
            <a:picLocks noChangeAspect="1"/>
          </p:cNvPicPr>
          <p:nvPr/>
        </p:nvPicPr>
        <p:blipFill>
          <a:blip r:embed="rId2"/>
          <a:stretch>
            <a:fillRect/>
          </a:stretch>
        </p:blipFill>
        <p:spPr>
          <a:xfrm>
            <a:off x="1927503" y="815627"/>
            <a:ext cx="8336993" cy="6036586"/>
          </a:xfrm>
          <a:prstGeom prst="rect">
            <a:avLst/>
          </a:prstGeom>
        </p:spPr>
      </p:pic>
      <p:pic>
        <p:nvPicPr>
          <p:cNvPr id="3" name="Obraz 2">
            <a:extLst>
              <a:ext uri="{FF2B5EF4-FFF2-40B4-BE49-F238E27FC236}">
                <a16:creationId xmlns:a16="http://schemas.microsoft.com/office/drawing/2014/main" id="{EAFEF51B-A99E-1C67-7A67-A7963BC97C58}"/>
              </a:ext>
            </a:extLst>
          </p:cNvPr>
          <p:cNvPicPr>
            <a:picLocks noChangeAspect="1"/>
          </p:cNvPicPr>
          <p:nvPr/>
        </p:nvPicPr>
        <p:blipFill>
          <a:blip r:embed="rId3"/>
          <a:stretch>
            <a:fillRect/>
          </a:stretch>
        </p:blipFill>
        <p:spPr>
          <a:xfrm>
            <a:off x="1927502" y="817074"/>
            <a:ext cx="8336993" cy="2979761"/>
          </a:xfrm>
          <a:prstGeom prst="rect">
            <a:avLst/>
          </a:prstGeom>
        </p:spPr>
      </p:pic>
      <p:sp>
        <p:nvSpPr>
          <p:cNvPr id="4" name="pole tekstowe 3">
            <a:extLst>
              <a:ext uri="{FF2B5EF4-FFF2-40B4-BE49-F238E27FC236}">
                <a16:creationId xmlns:a16="http://schemas.microsoft.com/office/drawing/2014/main" id="{39227877-459C-AF57-7952-92DD3A245AF9}"/>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https://courses.cs.washington.edu/courses/cse455/09wi/Lects/</a:t>
            </a:r>
          </a:p>
        </p:txBody>
      </p:sp>
    </p:spTree>
    <p:extLst>
      <p:ext uri="{BB962C8B-B14F-4D97-AF65-F5344CB8AC3E}">
        <p14:creationId xmlns:p14="http://schemas.microsoft.com/office/powerpoint/2010/main" val="811256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en-US" dirty="0"/>
              <a:t>Features can also be used for object recognition</a:t>
            </a:r>
            <a:endParaRPr lang="en-GB" dirty="0"/>
          </a:p>
        </p:txBody>
      </p:sp>
      <p:sp>
        <p:nvSpPr>
          <p:cNvPr id="4" name="pole tekstowe 3">
            <a:extLst>
              <a:ext uri="{FF2B5EF4-FFF2-40B4-BE49-F238E27FC236}">
                <a16:creationId xmlns:a16="http://schemas.microsoft.com/office/drawing/2014/main" id="{39227877-459C-AF57-7952-92DD3A245AF9}"/>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https://courses.cs.washington.edu/courses/cse455/09wi/Lects/</a:t>
            </a:r>
          </a:p>
        </p:txBody>
      </p:sp>
      <p:pic>
        <p:nvPicPr>
          <p:cNvPr id="6" name="Obraz 5">
            <a:extLst>
              <a:ext uri="{FF2B5EF4-FFF2-40B4-BE49-F238E27FC236}">
                <a16:creationId xmlns:a16="http://schemas.microsoft.com/office/drawing/2014/main" id="{8F2FBEFB-3928-D8F0-962A-388076AF23F9}"/>
              </a:ext>
            </a:extLst>
          </p:cNvPr>
          <p:cNvPicPr>
            <a:picLocks noChangeAspect="1"/>
          </p:cNvPicPr>
          <p:nvPr/>
        </p:nvPicPr>
        <p:blipFill rotWithShape="1">
          <a:blip r:embed="rId2"/>
          <a:srcRect b="3842"/>
          <a:stretch/>
        </p:blipFill>
        <p:spPr>
          <a:xfrm>
            <a:off x="1028700" y="899699"/>
            <a:ext cx="10134600" cy="4845120"/>
          </a:xfrm>
          <a:prstGeom prst="rect">
            <a:avLst/>
          </a:prstGeom>
        </p:spPr>
      </p:pic>
    </p:spTree>
    <p:extLst>
      <p:ext uri="{BB962C8B-B14F-4D97-AF65-F5344CB8AC3E}">
        <p14:creationId xmlns:p14="http://schemas.microsoft.com/office/powerpoint/2010/main" val="213969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Applications of </a:t>
            </a:r>
            <a:r>
              <a:rPr lang="en-US" dirty="0"/>
              <a:t>feature detection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8" y="741815"/>
            <a:ext cx="10982740" cy="2677656"/>
          </a:xfrm>
          <a:prstGeom prst="rect">
            <a:avLst/>
          </a:prstGeom>
          <a:noFill/>
        </p:spPr>
        <p:txBody>
          <a:bodyPr wrap="square">
            <a:spAutoFit/>
          </a:bodyPr>
          <a:lstStyle/>
          <a:p>
            <a:pPr algn="l">
              <a:spcBef>
                <a:spcPts val="600"/>
              </a:spcBef>
              <a:spcAft>
                <a:spcPts val="600"/>
              </a:spcAft>
            </a:pPr>
            <a:r>
              <a:rPr lang="en-US" sz="2800" b="1" i="0" dirty="0">
                <a:solidFill>
                  <a:srgbClr val="1F1F1F"/>
                </a:solidFill>
                <a:effectLst/>
                <a:highlight>
                  <a:srgbClr val="FFFFFF"/>
                </a:highlight>
                <a:latin typeface="Google Sans"/>
              </a:rPr>
              <a:t>Image recognition and object detection:</a:t>
            </a:r>
            <a:r>
              <a:rPr lang="en-US" sz="2800" b="0" i="0" dirty="0">
                <a:solidFill>
                  <a:srgbClr val="1F1F1F"/>
                </a:solidFill>
                <a:effectLst/>
                <a:highlight>
                  <a:srgbClr val="FFFFFF"/>
                </a:highlight>
                <a:latin typeface="Google Sans"/>
              </a:rPr>
              <a:t> Feature detection is crucial for recognizing objects in images and videos. By identifying distinctive points like corners, edges, or blobs, algorithms can establish correspondences between images and recognize the objects they contain. This is essential for applications like self-driving cars, facial recognition, and image classification.</a:t>
            </a:r>
          </a:p>
        </p:txBody>
      </p:sp>
      <p:pic>
        <p:nvPicPr>
          <p:cNvPr id="2050" name="Picture 2" descr="Object Detection vs Object Recognition vs Image Segmentation - GeeksforGeeks">
            <a:extLst>
              <a:ext uri="{FF2B5EF4-FFF2-40B4-BE49-F238E27FC236}">
                <a16:creationId xmlns:a16="http://schemas.microsoft.com/office/drawing/2014/main" id="{A00362A2-CA05-391E-A640-17BE070454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2545" y="3419471"/>
            <a:ext cx="6966910" cy="3219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67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Applications of </a:t>
            </a:r>
            <a:r>
              <a:rPr lang="en-US" dirty="0"/>
              <a:t>feature detection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8" y="741815"/>
            <a:ext cx="10982740" cy="2246769"/>
          </a:xfrm>
          <a:prstGeom prst="rect">
            <a:avLst/>
          </a:prstGeom>
          <a:noFill/>
        </p:spPr>
        <p:txBody>
          <a:bodyPr wrap="square">
            <a:spAutoFit/>
          </a:bodyPr>
          <a:lstStyle/>
          <a:p>
            <a:pPr algn="l">
              <a:spcBef>
                <a:spcPts val="600"/>
              </a:spcBef>
              <a:spcAft>
                <a:spcPts val="600"/>
              </a:spcAft>
            </a:pPr>
            <a:r>
              <a:rPr lang="en-US" sz="2800" b="1" i="0" dirty="0">
                <a:solidFill>
                  <a:srgbClr val="1F1F1F"/>
                </a:solidFill>
                <a:effectLst/>
                <a:highlight>
                  <a:srgbClr val="FFFFFF"/>
                </a:highlight>
                <a:latin typeface="Google Sans"/>
              </a:rPr>
              <a:t>Object tracking:</a:t>
            </a:r>
            <a:r>
              <a:rPr lang="en-US" sz="2800" b="0" i="0" dirty="0">
                <a:solidFill>
                  <a:srgbClr val="1F1F1F"/>
                </a:solidFill>
                <a:effectLst/>
                <a:highlight>
                  <a:srgbClr val="FFFFFF"/>
                </a:highlight>
                <a:latin typeface="Google Sans"/>
              </a:rPr>
              <a:t> Feature detection allows us to track objects across multiple video frames. By following the identified features, algorithms can understand how objects move and interact with their environment. This has applications in surveillance systems, motion analysis in sports, and augmented reality.</a:t>
            </a:r>
          </a:p>
        </p:txBody>
      </p:sp>
      <p:pic>
        <p:nvPicPr>
          <p:cNvPr id="3074" name="Picture 2" descr="Introduction to Multiple Object Tracking and Recent Developments">
            <a:extLst>
              <a:ext uri="{FF2B5EF4-FFF2-40B4-BE49-F238E27FC236}">
                <a16:creationId xmlns:a16="http://schemas.microsoft.com/office/drawing/2014/main" id="{BC94F19D-D143-FB13-7D48-7DB76DFC2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9630" y="3311086"/>
            <a:ext cx="5150128" cy="289694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Vehicle Tracking and Counting Using YOLOv3 and Deep Sort | by Atharva  Musale | Medium">
            <a:extLst>
              <a:ext uri="{FF2B5EF4-FFF2-40B4-BE49-F238E27FC236}">
                <a16:creationId xmlns:a16="http://schemas.microsoft.com/office/drawing/2014/main" id="{09F26BBF-6D63-9AE8-4E0E-4FC24E2BE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630" y="3306794"/>
            <a:ext cx="5150128" cy="2901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6066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Applications of </a:t>
            </a:r>
            <a:r>
              <a:rPr lang="en-US" dirty="0"/>
              <a:t>feature detection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8" y="741815"/>
            <a:ext cx="10982740" cy="1815882"/>
          </a:xfrm>
          <a:prstGeom prst="rect">
            <a:avLst/>
          </a:prstGeom>
          <a:noFill/>
        </p:spPr>
        <p:txBody>
          <a:bodyPr wrap="square">
            <a:spAutoFit/>
          </a:bodyPr>
          <a:lstStyle/>
          <a:p>
            <a:pPr algn="l">
              <a:spcBef>
                <a:spcPts val="600"/>
              </a:spcBef>
              <a:spcAft>
                <a:spcPts val="600"/>
              </a:spcAft>
            </a:pPr>
            <a:r>
              <a:rPr lang="en-US" sz="2800" b="1" i="0" dirty="0">
                <a:solidFill>
                  <a:srgbClr val="1F1F1F"/>
                </a:solidFill>
                <a:effectLst/>
                <a:highlight>
                  <a:srgbClr val="FFFFFF"/>
                </a:highlight>
                <a:latin typeface="Google Sans"/>
              </a:rPr>
              <a:t>3D reconstruction:</a:t>
            </a:r>
            <a:r>
              <a:rPr lang="en-US" sz="2800" b="0" i="0" dirty="0">
                <a:solidFill>
                  <a:srgbClr val="1F1F1F"/>
                </a:solidFill>
                <a:effectLst/>
                <a:highlight>
                  <a:srgbClr val="FFFFFF"/>
                </a:highlight>
                <a:latin typeface="Google Sans"/>
              </a:rPr>
              <a:t> Feature detection plays a role in reconstructing 3D models from images. By identifying corresponding features in multiple images of an object, algorithms can determine its depth and create a 3D representation.</a:t>
            </a:r>
          </a:p>
        </p:txBody>
      </p:sp>
      <p:pic>
        <p:nvPicPr>
          <p:cNvPr id="4098" name="Picture 2" descr="2D to 3D reconstruction. Is it fastinating to build a 3d model… | by Prim  Wong | Super AI Engineer | Medium">
            <a:extLst>
              <a:ext uri="{FF2B5EF4-FFF2-40B4-BE49-F238E27FC236}">
                <a16:creationId xmlns:a16="http://schemas.microsoft.com/office/drawing/2014/main" id="{F6072C6E-B2BF-DAAA-1058-DCF3D72A63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2762250"/>
            <a:ext cx="5715000" cy="3619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404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Applications of </a:t>
            </a:r>
            <a:r>
              <a:rPr lang="en-US" dirty="0"/>
              <a:t>feature detection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8" y="741815"/>
            <a:ext cx="10982740" cy="1815882"/>
          </a:xfrm>
          <a:prstGeom prst="rect">
            <a:avLst/>
          </a:prstGeom>
          <a:noFill/>
        </p:spPr>
        <p:txBody>
          <a:bodyPr wrap="square">
            <a:spAutoFit/>
          </a:bodyPr>
          <a:lstStyle/>
          <a:p>
            <a:pPr algn="l">
              <a:spcBef>
                <a:spcPts val="600"/>
              </a:spcBef>
              <a:spcAft>
                <a:spcPts val="600"/>
              </a:spcAft>
            </a:pPr>
            <a:r>
              <a:rPr lang="en-US" sz="2800" b="1" i="0" dirty="0">
                <a:solidFill>
                  <a:srgbClr val="1F1F1F"/>
                </a:solidFill>
                <a:effectLst/>
                <a:highlight>
                  <a:srgbClr val="FFFFFF"/>
                </a:highlight>
                <a:latin typeface="Google Sans"/>
              </a:rPr>
              <a:t>Content-based image retrieval (CBIR):</a:t>
            </a:r>
            <a:r>
              <a:rPr lang="en-US" sz="2800" b="0" i="0" dirty="0">
                <a:solidFill>
                  <a:srgbClr val="1F1F1F"/>
                </a:solidFill>
                <a:effectLst/>
                <a:highlight>
                  <a:srgbClr val="FFFFFF"/>
                </a:highlight>
                <a:latin typeface="Google Sans"/>
              </a:rPr>
              <a:t> Feature detection enables searching for images based on their content. By extracting features from a query image and comparing them to features in a database, algorithms can retrieve images with similar visual elements.</a:t>
            </a:r>
          </a:p>
        </p:txBody>
      </p:sp>
      <p:pic>
        <p:nvPicPr>
          <p:cNvPr id="4" name="Obraz 3">
            <a:extLst>
              <a:ext uri="{FF2B5EF4-FFF2-40B4-BE49-F238E27FC236}">
                <a16:creationId xmlns:a16="http://schemas.microsoft.com/office/drawing/2014/main" id="{25D59A11-88A2-0F5E-9ECC-232373F73349}"/>
              </a:ext>
            </a:extLst>
          </p:cNvPr>
          <p:cNvPicPr>
            <a:picLocks noChangeAspect="1"/>
          </p:cNvPicPr>
          <p:nvPr/>
        </p:nvPicPr>
        <p:blipFill>
          <a:blip r:embed="rId2"/>
          <a:stretch>
            <a:fillRect/>
          </a:stretch>
        </p:blipFill>
        <p:spPr>
          <a:xfrm>
            <a:off x="2146853" y="2887110"/>
            <a:ext cx="8077200" cy="3648075"/>
          </a:xfrm>
          <a:prstGeom prst="rect">
            <a:avLst/>
          </a:prstGeom>
        </p:spPr>
      </p:pic>
    </p:spTree>
    <p:extLst>
      <p:ext uri="{BB962C8B-B14F-4D97-AF65-F5344CB8AC3E}">
        <p14:creationId xmlns:p14="http://schemas.microsoft.com/office/powerpoint/2010/main" val="33786486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Applications of </a:t>
            </a:r>
            <a:r>
              <a:rPr lang="en-US" dirty="0"/>
              <a:t>feature detection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8" y="741815"/>
            <a:ext cx="10982740" cy="1815882"/>
          </a:xfrm>
          <a:prstGeom prst="rect">
            <a:avLst/>
          </a:prstGeom>
          <a:noFill/>
        </p:spPr>
        <p:txBody>
          <a:bodyPr wrap="square">
            <a:spAutoFit/>
          </a:bodyPr>
          <a:lstStyle/>
          <a:p>
            <a:pPr algn="l">
              <a:spcBef>
                <a:spcPts val="600"/>
              </a:spcBef>
              <a:spcAft>
                <a:spcPts val="600"/>
              </a:spcAft>
            </a:pPr>
            <a:r>
              <a:rPr lang="en-US" sz="2800" b="1" i="0" dirty="0">
                <a:solidFill>
                  <a:srgbClr val="1F1F1F"/>
                </a:solidFill>
                <a:effectLst/>
                <a:highlight>
                  <a:srgbClr val="FFFFFF"/>
                </a:highlight>
                <a:latin typeface="Google Sans"/>
              </a:rPr>
              <a:t>Other applications:</a:t>
            </a:r>
            <a:r>
              <a:rPr lang="en-US" sz="2800" b="0" i="0" dirty="0">
                <a:solidFill>
                  <a:srgbClr val="1F1F1F"/>
                </a:solidFill>
                <a:effectLst/>
                <a:highlight>
                  <a:srgbClr val="FFFFFF"/>
                </a:highlight>
                <a:latin typeface="Google Sans"/>
              </a:rPr>
              <a:t> Feature detection also finds use in defect inspection in manufacturing, medical image analysis, and robot navigation, where identifying specific features in an image is crucial for performing the desired task.</a:t>
            </a:r>
          </a:p>
        </p:txBody>
      </p:sp>
      <p:pic>
        <p:nvPicPr>
          <p:cNvPr id="5122" name="Picture 2" descr="5 Challenges in Creating Autonomous Navigation Systems">
            <a:extLst>
              <a:ext uri="{FF2B5EF4-FFF2-40B4-BE49-F238E27FC236}">
                <a16:creationId xmlns:a16="http://schemas.microsoft.com/office/drawing/2014/main" id="{EF84C3A6-2231-53B3-1AD3-2B9E6BC98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7045" y="2725397"/>
            <a:ext cx="7177910" cy="3488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4177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lstStyle/>
          <a:p>
            <a:pPr algn="ctr"/>
            <a:r>
              <a:rPr lang="pl-PL" dirty="0" err="1"/>
              <a:t>e.g</a:t>
            </a:r>
            <a:r>
              <a:rPr lang="pl-PL" dirty="0"/>
              <a:t>. to </a:t>
            </a:r>
            <a:r>
              <a:rPr lang="pl-PL" dirty="0" err="1"/>
              <a:t>locate</a:t>
            </a:r>
            <a:r>
              <a:rPr lang="pl-PL" dirty="0"/>
              <a:t> NASA Mars Rover </a:t>
            </a:r>
            <a:r>
              <a:rPr lang="pl-PL" dirty="0" err="1"/>
              <a:t>images</a:t>
            </a:r>
            <a:endParaRPr lang="en-GB" dirty="0"/>
          </a:p>
        </p:txBody>
      </p:sp>
      <p:sp>
        <p:nvSpPr>
          <p:cNvPr id="4" name="pole tekstowe 3">
            <a:extLst>
              <a:ext uri="{FF2B5EF4-FFF2-40B4-BE49-F238E27FC236}">
                <a16:creationId xmlns:a16="http://schemas.microsoft.com/office/drawing/2014/main" id="{39227877-459C-AF57-7952-92DD3A245AF9}"/>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https://courses.cs.washington.edu/courses/cse455/09wi/Lects/</a:t>
            </a:r>
          </a:p>
        </p:txBody>
      </p:sp>
      <p:pic>
        <p:nvPicPr>
          <p:cNvPr id="6" name="Obraz 5">
            <a:extLst>
              <a:ext uri="{FF2B5EF4-FFF2-40B4-BE49-F238E27FC236}">
                <a16:creationId xmlns:a16="http://schemas.microsoft.com/office/drawing/2014/main" id="{AC729F2A-1BC6-12F2-6A3B-BB34144EF6C2}"/>
              </a:ext>
            </a:extLst>
          </p:cNvPr>
          <p:cNvPicPr>
            <a:picLocks noChangeAspect="1"/>
          </p:cNvPicPr>
          <p:nvPr/>
        </p:nvPicPr>
        <p:blipFill>
          <a:blip r:embed="rId2"/>
          <a:stretch>
            <a:fillRect/>
          </a:stretch>
        </p:blipFill>
        <p:spPr>
          <a:xfrm>
            <a:off x="561145" y="741815"/>
            <a:ext cx="11069708" cy="5561679"/>
          </a:xfrm>
          <a:prstGeom prst="rect">
            <a:avLst/>
          </a:prstGeom>
        </p:spPr>
      </p:pic>
    </p:spTree>
    <p:extLst>
      <p:ext uri="{BB962C8B-B14F-4D97-AF65-F5344CB8AC3E}">
        <p14:creationId xmlns:p14="http://schemas.microsoft.com/office/powerpoint/2010/main" val="37925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a:extLst>
              <a:ext uri="{FF2B5EF4-FFF2-40B4-BE49-F238E27FC236}">
                <a16:creationId xmlns:a16="http://schemas.microsoft.com/office/drawing/2014/main" id="{199F53B1-79E5-2E6E-068F-33707D45232E}"/>
              </a:ext>
            </a:extLst>
          </p:cNvPr>
          <p:cNvPicPr>
            <a:picLocks noChangeAspect="1"/>
          </p:cNvPicPr>
          <p:nvPr/>
        </p:nvPicPr>
        <p:blipFill>
          <a:blip r:embed="rId2"/>
          <a:stretch>
            <a:fillRect/>
          </a:stretch>
        </p:blipFill>
        <p:spPr>
          <a:xfrm>
            <a:off x="561145" y="759698"/>
            <a:ext cx="11069708" cy="5543796"/>
          </a:xfrm>
          <a:prstGeom prst="rect">
            <a:avLst/>
          </a:prstGeom>
        </p:spPr>
      </p:pic>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lstStyle/>
          <a:p>
            <a:pPr algn="ctr"/>
            <a:r>
              <a:rPr lang="pl-PL" dirty="0" err="1"/>
              <a:t>e.g</a:t>
            </a:r>
            <a:r>
              <a:rPr lang="pl-PL" dirty="0"/>
              <a:t>. to </a:t>
            </a:r>
            <a:r>
              <a:rPr lang="pl-PL" dirty="0" err="1"/>
              <a:t>locate</a:t>
            </a:r>
            <a:r>
              <a:rPr lang="pl-PL" dirty="0"/>
              <a:t> NASA Mars Rover </a:t>
            </a:r>
            <a:r>
              <a:rPr lang="pl-PL" dirty="0" err="1"/>
              <a:t>images</a:t>
            </a:r>
            <a:endParaRPr lang="en-GB" dirty="0"/>
          </a:p>
        </p:txBody>
      </p:sp>
      <p:sp>
        <p:nvSpPr>
          <p:cNvPr id="4" name="pole tekstowe 3">
            <a:extLst>
              <a:ext uri="{FF2B5EF4-FFF2-40B4-BE49-F238E27FC236}">
                <a16:creationId xmlns:a16="http://schemas.microsoft.com/office/drawing/2014/main" id="{39227877-459C-AF57-7952-92DD3A245AF9}"/>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https://courses.cs.washington.edu/courses/cse455/09wi/Lects/</a:t>
            </a:r>
          </a:p>
        </p:txBody>
      </p:sp>
      <p:sp>
        <p:nvSpPr>
          <p:cNvPr id="10" name="pole tekstowe 9">
            <a:extLst>
              <a:ext uri="{FF2B5EF4-FFF2-40B4-BE49-F238E27FC236}">
                <a16:creationId xmlns:a16="http://schemas.microsoft.com/office/drawing/2014/main" id="{27E68EB7-436B-A64E-6A43-D42AA31313DB}"/>
              </a:ext>
            </a:extLst>
          </p:cNvPr>
          <p:cNvSpPr txBox="1"/>
          <p:nvPr/>
        </p:nvSpPr>
        <p:spPr>
          <a:xfrm>
            <a:off x="487017" y="5952045"/>
            <a:ext cx="6221894" cy="369332"/>
          </a:xfrm>
          <a:prstGeom prst="rect">
            <a:avLst/>
          </a:prstGeom>
          <a:noFill/>
        </p:spPr>
        <p:txBody>
          <a:bodyPr wrap="square">
            <a:spAutoFit/>
          </a:bodyPr>
          <a:lstStyle/>
          <a:p>
            <a:r>
              <a:rPr lang="pl-PL" dirty="0">
                <a:highlight>
                  <a:srgbClr val="FFFF00"/>
                </a:highlight>
              </a:rPr>
              <a:t>L</a:t>
            </a:r>
            <a:r>
              <a:rPr lang="en-US" dirty="0" err="1">
                <a:highlight>
                  <a:srgbClr val="FFFF00"/>
                </a:highlight>
              </a:rPr>
              <a:t>ook</a:t>
            </a:r>
            <a:r>
              <a:rPr lang="en-US" dirty="0">
                <a:highlight>
                  <a:srgbClr val="FFFF00"/>
                </a:highlight>
              </a:rPr>
              <a:t> for tiny colored squares…</a:t>
            </a:r>
            <a:r>
              <a:rPr lang="pl-PL" dirty="0">
                <a:highlight>
                  <a:srgbClr val="FFFF00"/>
                </a:highlight>
              </a:rPr>
              <a:t> (</a:t>
            </a:r>
            <a:r>
              <a:rPr lang="en-US" dirty="0">
                <a:highlight>
                  <a:srgbClr val="FFFF00"/>
                </a:highlight>
              </a:rPr>
              <a:t>SIFT feature matches</a:t>
            </a:r>
            <a:r>
              <a:rPr lang="pl-PL" dirty="0">
                <a:highlight>
                  <a:srgbClr val="FFFF00"/>
                </a:highlight>
              </a:rPr>
              <a:t>)</a:t>
            </a:r>
            <a:endParaRPr lang="en-GB" dirty="0">
              <a:highlight>
                <a:srgbClr val="FFFF00"/>
              </a:highlight>
            </a:endParaRPr>
          </a:p>
        </p:txBody>
      </p:sp>
    </p:spTree>
    <p:extLst>
      <p:ext uri="{BB962C8B-B14F-4D97-AF65-F5344CB8AC3E}">
        <p14:creationId xmlns:p14="http://schemas.microsoft.com/office/powerpoint/2010/main" val="3901840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fontScale="90000"/>
          </a:bodyPr>
          <a:lstStyle/>
          <a:p>
            <a:pPr algn="ctr"/>
            <a:r>
              <a:rPr lang="en-US" dirty="0"/>
              <a:t>Good features for feature detection in computer vision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8" y="741815"/>
            <a:ext cx="10982740" cy="4909036"/>
          </a:xfrm>
          <a:prstGeom prst="rect">
            <a:avLst/>
          </a:prstGeom>
          <a:noFill/>
        </p:spPr>
        <p:txBody>
          <a:bodyPr wrap="square">
            <a:spAutoFit/>
          </a:bodyPr>
          <a:lstStyle/>
          <a:p>
            <a:pPr algn="l">
              <a:spcBef>
                <a:spcPts val="600"/>
              </a:spcBef>
            </a:pPr>
            <a:r>
              <a:rPr lang="pl-PL" sz="2400" b="0" i="0" dirty="0">
                <a:solidFill>
                  <a:srgbClr val="1F1F1F"/>
                </a:solidFill>
                <a:effectLst/>
                <a:highlight>
                  <a:srgbClr val="FFFFFF"/>
                </a:highlight>
                <a:latin typeface="Google Sans"/>
              </a:rPr>
              <a:t>…</a:t>
            </a:r>
            <a:r>
              <a:rPr lang="en-US" sz="2400" b="0" i="0" dirty="0">
                <a:solidFill>
                  <a:srgbClr val="1F1F1F"/>
                </a:solidFill>
                <a:effectLst/>
                <a:highlight>
                  <a:srgbClr val="FFFFFF"/>
                </a:highlight>
                <a:latin typeface="Google Sans"/>
              </a:rPr>
              <a:t>are like good puzzle pieces:</a:t>
            </a:r>
          </a:p>
          <a:p>
            <a:pPr algn="l">
              <a:spcBef>
                <a:spcPts val="600"/>
              </a:spcBef>
            </a:pPr>
            <a:r>
              <a:rPr lang="en-US" sz="2400" b="1" i="0" dirty="0">
                <a:solidFill>
                  <a:srgbClr val="1F1F1F"/>
                </a:solidFill>
                <a:effectLst/>
                <a:highlight>
                  <a:srgbClr val="FFFFFF"/>
                </a:highlight>
                <a:latin typeface="Google Sans"/>
              </a:rPr>
              <a:t>Distinctive:</a:t>
            </a:r>
            <a:r>
              <a:rPr lang="en-US" sz="2400" b="0" i="0" dirty="0">
                <a:solidFill>
                  <a:srgbClr val="1F1F1F"/>
                </a:solidFill>
                <a:effectLst/>
                <a:highlight>
                  <a:srgbClr val="FFFFFF"/>
                </a:highlight>
                <a:latin typeface="Google Sans"/>
              </a:rPr>
              <a:t> They should </a:t>
            </a:r>
            <a:r>
              <a:rPr lang="en-US" sz="2400" b="1" i="0" dirty="0">
                <a:solidFill>
                  <a:srgbClr val="1F1F1F"/>
                </a:solidFill>
                <a:effectLst/>
                <a:highlight>
                  <a:srgbClr val="FFFFFF"/>
                </a:highlight>
                <a:latin typeface="Google Sans"/>
              </a:rPr>
              <a:t>stand out from the rest of the image</a:t>
            </a:r>
            <a:r>
              <a:rPr lang="en-US" sz="2400" b="0" i="0" dirty="0">
                <a:solidFill>
                  <a:srgbClr val="1F1F1F"/>
                </a:solidFill>
                <a:effectLst/>
                <a:highlight>
                  <a:srgbClr val="FFFFFF"/>
                </a:highlight>
                <a:latin typeface="Google Sans"/>
              </a:rPr>
              <a:t>, like a uniquely shaped puzzle piece. This makes them easy to identify and reliable for matching.</a:t>
            </a:r>
          </a:p>
          <a:p>
            <a:pPr algn="l">
              <a:spcBef>
                <a:spcPts val="600"/>
              </a:spcBef>
            </a:pPr>
            <a:r>
              <a:rPr lang="en-US" sz="2400" b="1" i="0" dirty="0">
                <a:solidFill>
                  <a:srgbClr val="1F1F1F"/>
                </a:solidFill>
                <a:effectLst/>
                <a:highlight>
                  <a:srgbClr val="FFFFFF"/>
                </a:highlight>
                <a:latin typeface="Google Sans"/>
              </a:rPr>
              <a:t>Informative:</a:t>
            </a:r>
            <a:r>
              <a:rPr lang="en-US" sz="2400" b="0" i="0" dirty="0">
                <a:solidFill>
                  <a:srgbClr val="1F1F1F"/>
                </a:solidFill>
                <a:effectLst/>
                <a:highlight>
                  <a:srgbClr val="FFFFFF"/>
                </a:highlight>
                <a:latin typeface="Google Sans"/>
              </a:rPr>
              <a:t> They should reveal </a:t>
            </a:r>
            <a:r>
              <a:rPr lang="en-US" sz="2400" b="1" i="0" dirty="0">
                <a:solidFill>
                  <a:srgbClr val="1F1F1F"/>
                </a:solidFill>
                <a:effectLst/>
                <a:highlight>
                  <a:srgbClr val="FFFFFF"/>
                </a:highlight>
                <a:latin typeface="Google Sans"/>
              </a:rPr>
              <a:t>important information about the image content</a:t>
            </a:r>
            <a:r>
              <a:rPr lang="en-US" sz="2400" b="0" i="0" dirty="0">
                <a:solidFill>
                  <a:srgbClr val="1F1F1F"/>
                </a:solidFill>
                <a:effectLst/>
                <a:highlight>
                  <a:srgbClr val="FFFFFF"/>
                </a:highlight>
                <a:latin typeface="Google Sans"/>
              </a:rPr>
              <a:t>. Imagine a puzzle piece with a clear chunk of sky or a specific detail on an object.</a:t>
            </a:r>
          </a:p>
          <a:p>
            <a:pPr algn="l">
              <a:spcBef>
                <a:spcPts val="600"/>
              </a:spcBef>
            </a:pPr>
            <a:r>
              <a:rPr lang="en-US" sz="2400" b="1" i="0" dirty="0">
                <a:solidFill>
                  <a:srgbClr val="1F1F1F"/>
                </a:solidFill>
                <a:effectLst/>
                <a:highlight>
                  <a:srgbClr val="FFFFFF"/>
                </a:highlight>
                <a:latin typeface="Google Sans"/>
              </a:rPr>
              <a:t>Repeatable:</a:t>
            </a:r>
            <a:r>
              <a:rPr lang="en-US" sz="2400" b="0" i="0" dirty="0">
                <a:solidFill>
                  <a:srgbClr val="1F1F1F"/>
                </a:solidFill>
                <a:effectLst/>
                <a:highlight>
                  <a:srgbClr val="FFFFFF"/>
                </a:highlight>
                <a:latin typeface="Google Sans"/>
              </a:rPr>
              <a:t> Ideally, they should be consistently </a:t>
            </a:r>
            <a:r>
              <a:rPr lang="en-US" sz="2400" b="1" i="0" dirty="0">
                <a:solidFill>
                  <a:srgbClr val="1F1F1F"/>
                </a:solidFill>
                <a:effectLst/>
                <a:highlight>
                  <a:srgbClr val="FFFFFF"/>
                </a:highlight>
                <a:latin typeface="Google Sans"/>
              </a:rPr>
              <a:t>detectable under different lighting </a:t>
            </a:r>
            <a:r>
              <a:rPr lang="en-US" sz="2400" b="0" i="0" dirty="0">
                <a:solidFill>
                  <a:srgbClr val="1F1F1F"/>
                </a:solidFill>
                <a:effectLst/>
                <a:highlight>
                  <a:srgbClr val="FFFFFF"/>
                </a:highlight>
                <a:latin typeface="Google Sans"/>
              </a:rPr>
              <a:t>conditions or slight </a:t>
            </a:r>
            <a:r>
              <a:rPr lang="en-US" sz="2400" b="1" i="0" dirty="0">
                <a:solidFill>
                  <a:srgbClr val="1F1F1F"/>
                </a:solidFill>
                <a:effectLst/>
                <a:highlight>
                  <a:srgbClr val="FFFFFF"/>
                </a:highlight>
                <a:latin typeface="Google Sans"/>
              </a:rPr>
              <a:t>changes in perspective</a:t>
            </a:r>
            <a:r>
              <a:rPr lang="en-US" sz="2400" b="0" i="0" dirty="0">
                <a:solidFill>
                  <a:srgbClr val="1F1F1F"/>
                </a:solidFill>
                <a:effectLst/>
                <a:highlight>
                  <a:srgbClr val="FFFFFF"/>
                </a:highlight>
                <a:latin typeface="Google Sans"/>
              </a:rPr>
              <a:t>. Just like a good puzzle piece should fit even if the picture is a little blurry.</a:t>
            </a:r>
          </a:p>
          <a:p>
            <a:pPr algn="l">
              <a:spcBef>
                <a:spcPts val="600"/>
              </a:spcBef>
            </a:pPr>
            <a:r>
              <a:rPr lang="en-US" sz="2400" b="1" i="0" dirty="0">
                <a:solidFill>
                  <a:srgbClr val="1F1F1F"/>
                </a:solidFill>
                <a:effectLst/>
                <a:highlight>
                  <a:srgbClr val="FFFFFF"/>
                </a:highlight>
                <a:latin typeface="Google Sans"/>
              </a:rPr>
              <a:t>Localized:</a:t>
            </a:r>
            <a:r>
              <a:rPr lang="en-US" sz="2400" b="0" i="0" dirty="0">
                <a:solidFill>
                  <a:srgbClr val="1F1F1F"/>
                </a:solidFill>
                <a:effectLst/>
                <a:highlight>
                  <a:srgbClr val="FFFFFF"/>
                </a:highlight>
                <a:latin typeface="Google Sans"/>
              </a:rPr>
              <a:t> They should pinpoint </a:t>
            </a:r>
            <a:r>
              <a:rPr lang="en-US" sz="2400" b="1" i="0" dirty="0">
                <a:solidFill>
                  <a:srgbClr val="1F1F1F"/>
                </a:solidFill>
                <a:effectLst/>
                <a:highlight>
                  <a:srgbClr val="FFFFFF"/>
                </a:highlight>
                <a:latin typeface="Google Sans"/>
              </a:rPr>
              <a:t>specific points in the image</a:t>
            </a:r>
            <a:r>
              <a:rPr lang="en-US" sz="2400" b="0" i="0" dirty="0">
                <a:solidFill>
                  <a:srgbClr val="1F1F1F"/>
                </a:solidFill>
                <a:effectLst/>
                <a:highlight>
                  <a:srgbClr val="FFFFFF"/>
                </a:highlight>
                <a:latin typeface="Google Sans"/>
              </a:rPr>
              <a:t>, allowing </a:t>
            </a:r>
            <a:r>
              <a:rPr lang="en-US" sz="2400" b="1" i="0" dirty="0">
                <a:solidFill>
                  <a:srgbClr val="1F1F1F"/>
                </a:solidFill>
                <a:effectLst/>
                <a:highlight>
                  <a:srgbClr val="FFFFFF"/>
                </a:highlight>
                <a:latin typeface="Google Sans"/>
              </a:rPr>
              <a:t>for precise matching</a:t>
            </a:r>
            <a:r>
              <a:rPr lang="en-US" sz="2400" b="0" i="0" dirty="0">
                <a:solidFill>
                  <a:srgbClr val="1F1F1F"/>
                </a:solidFill>
                <a:effectLst/>
                <a:highlight>
                  <a:srgbClr val="FFFFFF"/>
                </a:highlight>
                <a:latin typeface="Google Sans"/>
              </a:rPr>
              <a:t> and analysis. A good puzzle piece has a defined edge, not a fuzzy cloud-like shape.</a:t>
            </a:r>
            <a:endParaRPr lang="pl-PL" sz="2400" b="0" i="0" dirty="0">
              <a:solidFill>
                <a:srgbClr val="1F1F1F"/>
              </a:solidFill>
              <a:effectLst/>
              <a:highlight>
                <a:srgbClr val="FFFFFF"/>
              </a:highlight>
              <a:latin typeface="Google Sans"/>
            </a:endParaRPr>
          </a:p>
          <a:p>
            <a:pPr algn="l">
              <a:spcBef>
                <a:spcPts val="600"/>
              </a:spcBef>
            </a:pPr>
            <a:endParaRPr lang="en-US" sz="2400" b="0" i="0" dirty="0">
              <a:solidFill>
                <a:srgbClr val="1F1F1F"/>
              </a:solidFill>
              <a:effectLst/>
              <a:highlight>
                <a:srgbClr val="FFFFFF"/>
              </a:highlight>
              <a:latin typeface="Google Sans"/>
            </a:endParaRPr>
          </a:p>
        </p:txBody>
      </p:sp>
    </p:spTree>
    <p:extLst>
      <p:ext uri="{BB962C8B-B14F-4D97-AF65-F5344CB8AC3E}">
        <p14:creationId xmlns:p14="http://schemas.microsoft.com/office/powerpoint/2010/main" val="3958967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fontScale="90000"/>
          </a:bodyPr>
          <a:lstStyle/>
          <a:p>
            <a:pPr algn="ctr"/>
            <a:r>
              <a:rPr lang="en-US" dirty="0"/>
              <a:t>Good features for feature detection in computer vision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7" y="741815"/>
            <a:ext cx="7076661" cy="5955476"/>
          </a:xfrm>
          <a:prstGeom prst="rect">
            <a:avLst/>
          </a:prstGeom>
          <a:noFill/>
        </p:spPr>
        <p:txBody>
          <a:bodyPr wrap="square">
            <a:spAutoFit/>
          </a:bodyPr>
          <a:lstStyle/>
          <a:p>
            <a:pPr algn="l">
              <a:spcBef>
                <a:spcPts val="600"/>
              </a:spcBef>
            </a:pPr>
            <a:r>
              <a:rPr lang="pl-PL" sz="2400" b="0" i="0" dirty="0">
                <a:solidFill>
                  <a:srgbClr val="1F1F1F"/>
                </a:solidFill>
                <a:effectLst/>
                <a:highlight>
                  <a:srgbClr val="FFFFFF"/>
                </a:highlight>
                <a:latin typeface="Google Sans"/>
              </a:rPr>
              <a:t>S</a:t>
            </a:r>
            <a:r>
              <a:rPr lang="en-US" sz="2400" b="0" i="0" dirty="0" err="1">
                <a:solidFill>
                  <a:srgbClr val="1F1F1F"/>
                </a:solidFill>
                <a:effectLst/>
                <a:highlight>
                  <a:srgbClr val="FFFFFF"/>
                </a:highlight>
                <a:latin typeface="Google Sans"/>
              </a:rPr>
              <a:t>ome</a:t>
            </a:r>
            <a:r>
              <a:rPr lang="en-US" sz="2400" b="0" i="0" dirty="0">
                <a:solidFill>
                  <a:srgbClr val="1F1F1F"/>
                </a:solidFill>
                <a:effectLst/>
                <a:highlight>
                  <a:srgbClr val="FFFFFF"/>
                </a:highlight>
                <a:latin typeface="Google Sans"/>
              </a:rPr>
              <a:t> examples:</a:t>
            </a:r>
            <a:endParaRPr lang="pl-PL" sz="2400" b="0" i="0" dirty="0">
              <a:solidFill>
                <a:srgbClr val="1F1F1F"/>
              </a:solidFill>
              <a:effectLst/>
              <a:highlight>
                <a:srgbClr val="FFFFFF"/>
              </a:highlight>
              <a:latin typeface="Google Sans"/>
            </a:endParaRPr>
          </a:p>
          <a:p>
            <a:pPr algn="l">
              <a:spcBef>
                <a:spcPts val="600"/>
              </a:spcBef>
              <a:spcAft>
                <a:spcPts val="600"/>
              </a:spcAft>
            </a:pPr>
            <a:r>
              <a:rPr lang="en-US" sz="2400" b="1" i="0" dirty="0">
                <a:solidFill>
                  <a:srgbClr val="1F1F1F"/>
                </a:solidFill>
                <a:effectLst/>
                <a:highlight>
                  <a:srgbClr val="FFFFFF"/>
                </a:highlight>
                <a:latin typeface="Google Sans"/>
              </a:rPr>
              <a:t>Corners:</a:t>
            </a:r>
            <a:r>
              <a:rPr lang="en-US" sz="2400" b="0" i="0" dirty="0">
                <a:solidFill>
                  <a:srgbClr val="1F1F1F"/>
                </a:solidFill>
                <a:effectLst/>
                <a:highlight>
                  <a:srgbClr val="FFFFFF"/>
                </a:highlight>
                <a:latin typeface="Google Sans"/>
              </a:rPr>
              <a:t> They are distinctive, informative (revealing changes in direction), and often repeatable under various conditions. </a:t>
            </a:r>
            <a:endParaRPr lang="pl-PL" sz="2400" b="0" i="0" dirty="0">
              <a:solidFill>
                <a:srgbClr val="1F1F1F"/>
              </a:solidFill>
              <a:effectLst/>
              <a:highlight>
                <a:srgbClr val="FFFFFF"/>
              </a:highlight>
              <a:latin typeface="Google Sans"/>
            </a:endParaRPr>
          </a:p>
          <a:p>
            <a:pPr algn="l">
              <a:spcBef>
                <a:spcPts val="600"/>
              </a:spcBef>
              <a:spcAft>
                <a:spcPts val="600"/>
              </a:spcAft>
            </a:pPr>
            <a:r>
              <a:rPr lang="en-US" sz="2400" b="1" i="0" dirty="0">
                <a:solidFill>
                  <a:srgbClr val="1F1F1F"/>
                </a:solidFill>
                <a:effectLst/>
                <a:highlight>
                  <a:srgbClr val="FFFFFF"/>
                </a:highlight>
                <a:latin typeface="Google Sans"/>
              </a:rPr>
              <a:t>Line Ends:</a:t>
            </a:r>
            <a:r>
              <a:rPr lang="en-US" sz="2400" b="0" i="0" dirty="0">
                <a:solidFill>
                  <a:srgbClr val="1F1F1F"/>
                </a:solidFill>
                <a:effectLst/>
                <a:highlight>
                  <a:srgbClr val="FFFFFF"/>
                </a:highlight>
                <a:latin typeface="Google Sans"/>
              </a:rPr>
              <a:t> These line endings mark the end of an object or boundary and can be informative features.</a:t>
            </a:r>
          </a:p>
          <a:p>
            <a:pPr algn="l">
              <a:spcBef>
                <a:spcPts val="600"/>
              </a:spcBef>
              <a:spcAft>
                <a:spcPts val="600"/>
              </a:spcAft>
            </a:pPr>
            <a:r>
              <a:rPr lang="en-US" sz="2400" b="1" i="0" dirty="0">
                <a:solidFill>
                  <a:srgbClr val="1F1F1F"/>
                </a:solidFill>
                <a:effectLst/>
                <a:highlight>
                  <a:srgbClr val="FFFFFF"/>
                </a:highlight>
                <a:latin typeface="Google Sans"/>
              </a:rPr>
              <a:t>High-contrast Edges:</a:t>
            </a:r>
            <a:r>
              <a:rPr lang="en-US" sz="2400" b="0" i="0" dirty="0">
                <a:solidFill>
                  <a:srgbClr val="1F1F1F"/>
                </a:solidFill>
                <a:effectLst/>
                <a:highlight>
                  <a:srgbClr val="FFFFFF"/>
                </a:highlight>
                <a:latin typeface="Google Sans"/>
              </a:rPr>
              <a:t> Good feature detection focuses on high-contrast edges where intensity changes sharply, indicating a clear separation between objects or regions.</a:t>
            </a:r>
          </a:p>
          <a:p>
            <a:pPr algn="l">
              <a:spcBef>
                <a:spcPts val="600"/>
              </a:spcBef>
              <a:spcAft>
                <a:spcPts val="600"/>
              </a:spcAft>
            </a:pPr>
            <a:r>
              <a:rPr lang="en-US" sz="2400" b="1" i="0" dirty="0">
                <a:solidFill>
                  <a:srgbClr val="1F1F1F"/>
                </a:solidFill>
                <a:effectLst/>
                <a:highlight>
                  <a:srgbClr val="FFFFFF"/>
                </a:highlight>
                <a:latin typeface="Google Sans"/>
              </a:rPr>
              <a:t>Blobs:</a:t>
            </a:r>
            <a:r>
              <a:rPr lang="en-US" sz="2400" b="0" i="0" dirty="0">
                <a:solidFill>
                  <a:srgbClr val="1F1F1F"/>
                </a:solidFill>
                <a:effectLst/>
                <a:highlight>
                  <a:srgbClr val="FFFFFF"/>
                </a:highlight>
                <a:latin typeface="Google Sans"/>
              </a:rPr>
              <a:t> These well-defined regions (blobs) are good features if they represent a specific object part or unique element.</a:t>
            </a:r>
          </a:p>
          <a:p>
            <a:pPr algn="l">
              <a:spcBef>
                <a:spcPts val="600"/>
              </a:spcBef>
            </a:pPr>
            <a:endParaRPr lang="en-US" sz="2400" b="0" i="0" dirty="0">
              <a:solidFill>
                <a:srgbClr val="1F1F1F"/>
              </a:solidFill>
              <a:effectLst/>
              <a:highlight>
                <a:srgbClr val="FFFFFF"/>
              </a:highlight>
              <a:latin typeface="Google Sans"/>
            </a:endParaRPr>
          </a:p>
        </p:txBody>
      </p:sp>
      <p:pic>
        <p:nvPicPr>
          <p:cNvPr id="7174" name="Picture 6" descr="Review of Feature Detection Techniques for Simultaneous Localization and  Mapping and System on Chip Approach">
            <a:extLst>
              <a:ext uri="{FF2B5EF4-FFF2-40B4-BE49-F238E27FC236}">
                <a16:creationId xmlns:a16="http://schemas.microsoft.com/office/drawing/2014/main" id="{97612CB5-BA9F-0E8A-6304-BF61B854DE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1670" y="1413841"/>
            <a:ext cx="3505200" cy="422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315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fontScale="90000"/>
          </a:bodyPr>
          <a:lstStyle/>
          <a:p>
            <a:pPr algn="ctr"/>
            <a:r>
              <a:rPr lang="en-US" dirty="0"/>
              <a:t>Good features for feature detection in computer vision</a:t>
            </a:r>
            <a:endParaRPr lang="en-GB" dirty="0"/>
          </a:p>
        </p:txBody>
      </p:sp>
      <p:sp>
        <p:nvSpPr>
          <p:cNvPr id="14" name="pole tekstowe 13">
            <a:extLst>
              <a:ext uri="{FF2B5EF4-FFF2-40B4-BE49-F238E27FC236}">
                <a16:creationId xmlns:a16="http://schemas.microsoft.com/office/drawing/2014/main" id="{1A01D2A3-531D-78BB-BD47-B0461A1B4D6B}"/>
              </a:ext>
            </a:extLst>
          </p:cNvPr>
          <p:cNvSpPr txBox="1"/>
          <p:nvPr/>
        </p:nvSpPr>
        <p:spPr>
          <a:xfrm>
            <a:off x="487017" y="741815"/>
            <a:ext cx="7076661" cy="1723549"/>
          </a:xfrm>
          <a:prstGeom prst="rect">
            <a:avLst/>
          </a:prstGeom>
          <a:noFill/>
        </p:spPr>
        <p:txBody>
          <a:bodyPr wrap="square">
            <a:spAutoFit/>
          </a:bodyPr>
          <a:lstStyle/>
          <a:p>
            <a:pPr algn="l">
              <a:spcBef>
                <a:spcPts val="600"/>
              </a:spcBef>
              <a:spcAft>
                <a:spcPts val="600"/>
              </a:spcAft>
            </a:pPr>
            <a:r>
              <a:rPr lang="en-US" sz="2400" b="1" i="0" dirty="0">
                <a:solidFill>
                  <a:srgbClr val="1F1F1F"/>
                </a:solidFill>
                <a:effectLst/>
                <a:highlight>
                  <a:srgbClr val="FFFFFF"/>
                </a:highlight>
                <a:latin typeface="Google Sans"/>
              </a:rPr>
              <a:t>Blobs:</a:t>
            </a:r>
            <a:r>
              <a:rPr lang="en-US" sz="2400" b="0" i="0" dirty="0">
                <a:solidFill>
                  <a:srgbClr val="1F1F1F"/>
                </a:solidFill>
                <a:effectLst/>
                <a:highlight>
                  <a:srgbClr val="FFFFFF"/>
                </a:highlight>
                <a:latin typeface="Google Sans"/>
              </a:rPr>
              <a:t> These well-defined regions (blobs) are good features if they represent a specific object part or unique element.</a:t>
            </a:r>
          </a:p>
          <a:p>
            <a:pPr algn="l">
              <a:spcBef>
                <a:spcPts val="600"/>
              </a:spcBef>
            </a:pPr>
            <a:endParaRPr lang="en-US" sz="2400" b="0" i="0" dirty="0">
              <a:solidFill>
                <a:srgbClr val="1F1F1F"/>
              </a:solidFill>
              <a:effectLst/>
              <a:highlight>
                <a:srgbClr val="FFFFFF"/>
              </a:highlight>
              <a:latin typeface="Google Sans"/>
            </a:endParaRPr>
          </a:p>
        </p:txBody>
      </p:sp>
      <p:pic>
        <p:nvPicPr>
          <p:cNvPr id="7172" name="Picture 4">
            <a:extLst>
              <a:ext uri="{FF2B5EF4-FFF2-40B4-BE49-F238E27FC236}">
                <a16:creationId xmlns:a16="http://schemas.microsoft.com/office/drawing/2014/main" id="{47BF42E6-CE18-3050-0A2D-3E81BE5808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372" y="2166231"/>
            <a:ext cx="2978629" cy="2959575"/>
          </a:xfrm>
          <a:prstGeom prst="rect">
            <a:avLst/>
          </a:prstGeom>
          <a:noFill/>
          <a:extLst>
            <a:ext uri="{909E8E84-426E-40DD-AFC4-6F175D3DCCD1}">
              <a14:hiddenFill xmlns:a14="http://schemas.microsoft.com/office/drawing/2010/main">
                <a:solidFill>
                  <a:srgbClr val="FFFFFF"/>
                </a:solidFill>
              </a14:hiddenFill>
            </a:ext>
          </a:extLst>
        </p:spPr>
      </p:pic>
      <p:sp>
        <p:nvSpPr>
          <p:cNvPr id="3" name="pole tekstowe 2">
            <a:extLst>
              <a:ext uri="{FF2B5EF4-FFF2-40B4-BE49-F238E27FC236}">
                <a16:creationId xmlns:a16="http://schemas.microsoft.com/office/drawing/2014/main" id="{DB27005C-A256-AA0D-77D8-2F0BF8FD45FE}"/>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https://towardsdatascience.com/image-processing-with-python-blob-detection-using-scikit-image-5df9a8380ade</a:t>
            </a:r>
          </a:p>
        </p:txBody>
      </p:sp>
      <p:sp>
        <p:nvSpPr>
          <p:cNvPr id="5" name="pole tekstowe 4">
            <a:extLst>
              <a:ext uri="{FF2B5EF4-FFF2-40B4-BE49-F238E27FC236}">
                <a16:creationId xmlns:a16="http://schemas.microsoft.com/office/drawing/2014/main" id="{DE1D9089-03C1-907D-7400-B670D03F3F30}"/>
              </a:ext>
            </a:extLst>
          </p:cNvPr>
          <p:cNvSpPr txBox="1"/>
          <p:nvPr/>
        </p:nvSpPr>
        <p:spPr>
          <a:xfrm>
            <a:off x="1160161" y="5488678"/>
            <a:ext cx="1543050" cy="369332"/>
          </a:xfrm>
          <a:prstGeom prst="rect">
            <a:avLst/>
          </a:prstGeom>
          <a:noFill/>
        </p:spPr>
        <p:txBody>
          <a:bodyPr wrap="square">
            <a:spAutoFit/>
          </a:bodyPr>
          <a:lstStyle/>
          <a:p>
            <a:pPr algn="ctr"/>
            <a:r>
              <a:rPr lang="pl-PL" b="0" i="0" dirty="0" err="1">
                <a:solidFill>
                  <a:srgbClr val="6B6B6B"/>
                </a:solidFill>
                <a:effectLst/>
                <a:highlight>
                  <a:srgbClr val="FFFFFF"/>
                </a:highlight>
                <a:latin typeface="sohne"/>
              </a:rPr>
              <a:t>Laughing</a:t>
            </a:r>
            <a:r>
              <a:rPr lang="pl-PL" b="0" i="0" dirty="0">
                <a:solidFill>
                  <a:srgbClr val="6B6B6B"/>
                </a:solidFill>
                <a:effectLst/>
                <a:highlight>
                  <a:srgbClr val="FFFFFF"/>
                </a:highlight>
                <a:latin typeface="sohne"/>
              </a:rPr>
              <a:t> </a:t>
            </a:r>
            <a:r>
              <a:rPr lang="pl-PL" b="0" i="0" dirty="0" err="1">
                <a:solidFill>
                  <a:srgbClr val="6B6B6B"/>
                </a:solidFill>
                <a:effectLst/>
                <a:highlight>
                  <a:srgbClr val="FFFFFF"/>
                </a:highlight>
                <a:latin typeface="sohne"/>
              </a:rPr>
              <a:t>Tree</a:t>
            </a:r>
            <a:endParaRPr lang="en-GB" dirty="0"/>
          </a:p>
        </p:txBody>
      </p:sp>
      <p:pic>
        <p:nvPicPr>
          <p:cNvPr id="8196" name="Picture 4">
            <a:extLst>
              <a:ext uri="{FF2B5EF4-FFF2-40B4-BE49-F238E27FC236}">
                <a16:creationId xmlns:a16="http://schemas.microsoft.com/office/drawing/2014/main" id="{2F2A477A-8475-FBF5-8904-E2A5AFA88E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6012" y="2001041"/>
            <a:ext cx="5214838" cy="3476559"/>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AAEC3FD5-B09D-2181-C6E9-02F6004555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31342" y="1653284"/>
            <a:ext cx="5484331" cy="4113248"/>
          </a:xfrm>
          <a:prstGeom prst="rect">
            <a:avLst/>
          </a:prstGeom>
          <a:noFill/>
          <a:extLst>
            <a:ext uri="{909E8E84-426E-40DD-AFC4-6F175D3DCCD1}">
              <a14:hiddenFill xmlns:a14="http://schemas.microsoft.com/office/drawing/2010/main">
                <a:solidFill>
                  <a:srgbClr val="FFFFFF"/>
                </a:solidFill>
              </a14:hiddenFill>
            </a:ext>
          </a:extLst>
        </p:spPr>
      </p:pic>
      <p:sp>
        <p:nvSpPr>
          <p:cNvPr id="7" name="pole tekstowe 6">
            <a:extLst>
              <a:ext uri="{FF2B5EF4-FFF2-40B4-BE49-F238E27FC236}">
                <a16:creationId xmlns:a16="http://schemas.microsoft.com/office/drawing/2014/main" id="{B66AA029-5ACC-1C9B-5FBD-1360F3DA6DFB}"/>
              </a:ext>
            </a:extLst>
          </p:cNvPr>
          <p:cNvSpPr txBox="1"/>
          <p:nvPr/>
        </p:nvSpPr>
        <p:spPr>
          <a:xfrm>
            <a:off x="8787632" y="5581866"/>
            <a:ext cx="2571749" cy="369332"/>
          </a:xfrm>
          <a:prstGeom prst="rect">
            <a:avLst/>
          </a:prstGeom>
          <a:noFill/>
        </p:spPr>
        <p:txBody>
          <a:bodyPr wrap="square">
            <a:spAutoFit/>
          </a:bodyPr>
          <a:lstStyle/>
          <a:p>
            <a:pPr algn="ctr"/>
            <a:r>
              <a:rPr lang="pl-PL" b="0" i="0" dirty="0" err="1">
                <a:solidFill>
                  <a:srgbClr val="6B6B6B"/>
                </a:solidFill>
                <a:effectLst/>
                <a:highlight>
                  <a:srgbClr val="FFFFFF"/>
                </a:highlight>
                <a:latin typeface="sohne"/>
              </a:rPr>
              <a:t>Filtered</a:t>
            </a:r>
            <a:r>
              <a:rPr lang="pl-PL" b="0" i="0" dirty="0">
                <a:solidFill>
                  <a:srgbClr val="6B6B6B"/>
                </a:solidFill>
                <a:effectLst/>
                <a:highlight>
                  <a:srgbClr val="FFFFFF"/>
                </a:highlight>
                <a:latin typeface="sohne"/>
              </a:rPr>
              <a:t> </a:t>
            </a:r>
            <a:r>
              <a:rPr lang="pl-PL" b="0" i="0" dirty="0" err="1">
                <a:solidFill>
                  <a:srgbClr val="6B6B6B"/>
                </a:solidFill>
                <a:effectLst/>
                <a:highlight>
                  <a:srgbClr val="FFFFFF"/>
                </a:highlight>
                <a:latin typeface="sohne"/>
              </a:rPr>
              <a:t>Bounding</a:t>
            </a:r>
            <a:r>
              <a:rPr lang="pl-PL" b="0" i="0" dirty="0">
                <a:solidFill>
                  <a:srgbClr val="6B6B6B"/>
                </a:solidFill>
                <a:effectLst/>
                <a:highlight>
                  <a:srgbClr val="FFFFFF"/>
                </a:highlight>
                <a:latin typeface="sohne"/>
              </a:rPr>
              <a:t> </a:t>
            </a:r>
            <a:r>
              <a:rPr lang="pl-PL" b="0" i="0" dirty="0" err="1">
                <a:solidFill>
                  <a:srgbClr val="6B6B6B"/>
                </a:solidFill>
                <a:effectLst/>
                <a:highlight>
                  <a:srgbClr val="FFFFFF"/>
                </a:highlight>
                <a:latin typeface="sohne"/>
              </a:rPr>
              <a:t>Boxes</a:t>
            </a:r>
            <a:endParaRPr lang="en-GB" dirty="0"/>
          </a:p>
        </p:txBody>
      </p:sp>
      <p:sp>
        <p:nvSpPr>
          <p:cNvPr id="11" name="pole tekstowe 10">
            <a:extLst>
              <a:ext uri="{FF2B5EF4-FFF2-40B4-BE49-F238E27FC236}">
                <a16:creationId xmlns:a16="http://schemas.microsoft.com/office/drawing/2014/main" id="{A60109A3-07BA-3A6C-FE9A-F977E504C655}"/>
              </a:ext>
            </a:extLst>
          </p:cNvPr>
          <p:cNvSpPr txBox="1"/>
          <p:nvPr/>
        </p:nvSpPr>
        <p:spPr>
          <a:xfrm>
            <a:off x="4390016" y="5550858"/>
            <a:ext cx="3246830" cy="369332"/>
          </a:xfrm>
          <a:prstGeom prst="rect">
            <a:avLst/>
          </a:prstGeom>
          <a:noFill/>
        </p:spPr>
        <p:txBody>
          <a:bodyPr wrap="square">
            <a:spAutoFit/>
          </a:bodyPr>
          <a:lstStyle>
            <a:defPPr>
              <a:defRPr lang="pl-PL"/>
            </a:defPPr>
            <a:lvl1pPr algn="ctr">
              <a:defRPr b="0" i="0">
                <a:solidFill>
                  <a:srgbClr val="6B6B6B"/>
                </a:solidFill>
                <a:effectLst/>
                <a:highlight>
                  <a:srgbClr val="FFFFFF"/>
                </a:highlight>
                <a:latin typeface="sohne"/>
              </a:defRPr>
            </a:lvl1pPr>
          </a:lstStyle>
          <a:p>
            <a:r>
              <a:rPr lang="pl-PL" dirty="0"/>
              <a:t>T</a:t>
            </a:r>
            <a:r>
              <a:rPr lang="en-US" dirty="0"/>
              <a:t>he different blobs in the image</a:t>
            </a:r>
            <a:endParaRPr lang="en-GB" dirty="0"/>
          </a:p>
        </p:txBody>
      </p:sp>
    </p:spTree>
    <p:extLst>
      <p:ext uri="{BB962C8B-B14F-4D97-AF65-F5344CB8AC3E}">
        <p14:creationId xmlns:p14="http://schemas.microsoft.com/office/powerpoint/2010/main" val="1922940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F</a:t>
            </a:r>
            <a:r>
              <a:rPr lang="en-US" dirty="0" err="1"/>
              <a:t>eature</a:t>
            </a:r>
            <a:r>
              <a:rPr lang="pl-PL" dirty="0"/>
              <a:t>s:</a:t>
            </a:r>
            <a:r>
              <a:rPr lang="en-US" dirty="0"/>
              <a:t> detection</a:t>
            </a:r>
            <a:r>
              <a:rPr lang="pl-PL" dirty="0"/>
              <a:t>, </a:t>
            </a:r>
            <a:r>
              <a:rPr lang="pl-PL" dirty="0" err="1"/>
              <a:t>description</a:t>
            </a:r>
            <a:r>
              <a:rPr lang="pl-PL" dirty="0"/>
              <a:t>, </a:t>
            </a:r>
            <a:r>
              <a:rPr lang="pl-PL" dirty="0" err="1"/>
              <a:t>matching</a:t>
            </a:r>
            <a:r>
              <a:rPr lang="pl-PL" dirty="0"/>
              <a:t>.</a:t>
            </a:r>
            <a:endParaRPr lang="en-GB" dirty="0"/>
          </a:p>
        </p:txBody>
      </p:sp>
      <p:sp>
        <p:nvSpPr>
          <p:cNvPr id="10" name="pole tekstowe 9">
            <a:extLst>
              <a:ext uri="{FF2B5EF4-FFF2-40B4-BE49-F238E27FC236}">
                <a16:creationId xmlns:a16="http://schemas.microsoft.com/office/drawing/2014/main" id="{708F8280-0BA9-B7EA-EEC6-AD8AAE6CAB23}"/>
              </a:ext>
            </a:extLst>
          </p:cNvPr>
          <p:cNvSpPr txBox="1"/>
          <p:nvPr/>
        </p:nvSpPr>
        <p:spPr>
          <a:xfrm>
            <a:off x="351148" y="1225689"/>
            <a:ext cx="3600000" cy="3416320"/>
          </a:xfrm>
          <a:prstGeom prst="rect">
            <a:avLst/>
          </a:prstGeom>
          <a:noFill/>
        </p:spPr>
        <p:txBody>
          <a:bodyPr wrap="square">
            <a:spAutoFit/>
          </a:bodyPr>
          <a:lstStyle/>
          <a:p>
            <a:pPr algn="just"/>
            <a:r>
              <a:rPr lang="en-US" b="1" i="0" dirty="0">
                <a:solidFill>
                  <a:srgbClr val="242424"/>
                </a:solidFill>
                <a:effectLst/>
                <a:highlight>
                  <a:srgbClr val="FFFFFF"/>
                </a:highlight>
                <a:latin typeface="source-serif-pro"/>
              </a:rPr>
              <a:t>Feature Detection</a:t>
            </a:r>
            <a:r>
              <a:rPr lang="en-US" b="0" i="0" dirty="0">
                <a:solidFill>
                  <a:srgbClr val="242424"/>
                </a:solidFill>
                <a:effectLst/>
                <a:highlight>
                  <a:srgbClr val="FFFFFF"/>
                </a:highlight>
                <a:latin typeface="source-serif-pro"/>
              </a:rPr>
              <a:t>:</a:t>
            </a:r>
            <a:endParaRPr lang="pl-PL" b="0" i="0" dirty="0">
              <a:solidFill>
                <a:srgbClr val="242424"/>
              </a:solidFill>
              <a:effectLst/>
              <a:highlight>
                <a:srgbClr val="FFFFFF"/>
              </a:highlight>
              <a:latin typeface="source-serif-pro"/>
            </a:endParaRPr>
          </a:p>
          <a:p>
            <a:pPr algn="just"/>
            <a:r>
              <a:rPr lang="en-US" b="0" i="0" dirty="0">
                <a:solidFill>
                  <a:srgbClr val="242424"/>
                </a:solidFill>
                <a:effectLst/>
                <a:highlight>
                  <a:srgbClr val="FFFFFF"/>
                </a:highlight>
                <a:latin typeface="source-serif-pro"/>
              </a:rPr>
              <a:t>Feature detection involves identifying specific points, regions, or structures in an image that are significant and can be used as references for further analysis.</a:t>
            </a:r>
            <a:endParaRPr lang="pl-PL" b="0" i="0" dirty="0">
              <a:solidFill>
                <a:srgbClr val="242424"/>
              </a:solidFill>
              <a:effectLst/>
              <a:highlight>
                <a:srgbClr val="FFFFFF"/>
              </a:highlight>
              <a:latin typeface="source-serif-pro"/>
            </a:endParaRPr>
          </a:p>
          <a:p>
            <a:pPr algn="just">
              <a:buFont typeface="Arial" panose="020B0604020202020204" pitchFamily="34" charset="0"/>
              <a:buChar char="•"/>
            </a:pPr>
            <a:r>
              <a:rPr lang="en-US" i="0" dirty="0">
                <a:solidFill>
                  <a:srgbClr val="242424"/>
                </a:solidFill>
                <a:effectLst/>
                <a:highlight>
                  <a:srgbClr val="FFFFFF"/>
                </a:highlight>
                <a:latin typeface="source-serif-pro"/>
              </a:rPr>
              <a:t>Harris Corner Detection.</a:t>
            </a:r>
          </a:p>
          <a:p>
            <a:pPr algn="just">
              <a:buFont typeface="Arial" panose="020B0604020202020204" pitchFamily="34" charset="0"/>
              <a:buChar char="•"/>
            </a:pPr>
            <a:r>
              <a:rPr lang="en-US" i="0" dirty="0">
                <a:solidFill>
                  <a:srgbClr val="242424"/>
                </a:solidFill>
                <a:effectLst/>
                <a:highlight>
                  <a:srgbClr val="FFFFFF"/>
                </a:highlight>
                <a:latin typeface="source-serif-pro"/>
              </a:rPr>
              <a:t>Shi-</a:t>
            </a:r>
            <a:r>
              <a:rPr lang="en-US" i="0" dirty="0" err="1">
                <a:solidFill>
                  <a:srgbClr val="242424"/>
                </a:solidFill>
                <a:effectLst/>
                <a:highlight>
                  <a:srgbClr val="FFFFFF"/>
                </a:highlight>
                <a:latin typeface="source-serif-pro"/>
              </a:rPr>
              <a:t>Tomasi</a:t>
            </a:r>
            <a:r>
              <a:rPr lang="en-US" i="0" dirty="0">
                <a:solidFill>
                  <a:srgbClr val="242424"/>
                </a:solidFill>
                <a:effectLst/>
                <a:highlight>
                  <a:srgbClr val="FFFFFF"/>
                </a:highlight>
                <a:latin typeface="source-serif-pro"/>
              </a:rPr>
              <a:t> Corner Detection.</a:t>
            </a:r>
          </a:p>
          <a:p>
            <a:pPr algn="just">
              <a:buFont typeface="Arial" panose="020B0604020202020204" pitchFamily="34" charset="0"/>
              <a:buChar char="•"/>
            </a:pPr>
            <a:r>
              <a:rPr lang="en-US" i="0" dirty="0">
                <a:solidFill>
                  <a:srgbClr val="242424"/>
                </a:solidFill>
                <a:effectLst/>
                <a:highlight>
                  <a:srgbClr val="FFFFFF"/>
                </a:highlight>
                <a:latin typeface="source-serif-pro"/>
              </a:rPr>
              <a:t>Canny Edge Detection</a:t>
            </a:r>
            <a:endParaRPr lang="pl-PL" i="0" dirty="0">
              <a:solidFill>
                <a:srgbClr val="242424"/>
              </a:solidFill>
              <a:effectLst/>
              <a:highlight>
                <a:srgbClr val="FFFFFF"/>
              </a:highlight>
              <a:latin typeface="source-serif-pro"/>
            </a:endParaRPr>
          </a:p>
          <a:p>
            <a:pPr algn="just">
              <a:buFont typeface="Arial" panose="020B0604020202020204" pitchFamily="34" charset="0"/>
              <a:buChar char="•"/>
            </a:pPr>
            <a:r>
              <a:rPr lang="en-US" i="0" dirty="0">
                <a:solidFill>
                  <a:srgbClr val="242424"/>
                </a:solidFill>
                <a:effectLst/>
                <a:highlight>
                  <a:srgbClr val="FFFFFF"/>
                </a:highlight>
                <a:latin typeface="source-serif-pro"/>
              </a:rPr>
              <a:t>Blob Detection.</a:t>
            </a:r>
          </a:p>
          <a:p>
            <a:pPr algn="just">
              <a:buFont typeface="Arial" panose="020B0604020202020204" pitchFamily="34" charset="0"/>
              <a:buChar char="•"/>
            </a:pPr>
            <a:r>
              <a:rPr lang="en-US" i="0" dirty="0">
                <a:solidFill>
                  <a:srgbClr val="242424"/>
                </a:solidFill>
                <a:effectLst/>
                <a:highlight>
                  <a:srgbClr val="FFFFFF"/>
                </a:highlight>
                <a:latin typeface="source-serif-pro"/>
              </a:rPr>
              <a:t>Scale-Invariant Feature Transform (SIFT</a:t>
            </a:r>
            <a:r>
              <a:rPr lang="pl-PL" i="0" dirty="0">
                <a:solidFill>
                  <a:srgbClr val="242424"/>
                </a:solidFill>
                <a:effectLst/>
                <a:highlight>
                  <a:srgbClr val="FFFFFF"/>
                </a:highlight>
                <a:latin typeface="source-serif-pro"/>
              </a:rPr>
              <a:t>)</a:t>
            </a:r>
            <a:endParaRPr lang="en-GB" dirty="0"/>
          </a:p>
        </p:txBody>
      </p:sp>
      <p:sp>
        <p:nvSpPr>
          <p:cNvPr id="12" name="pole tekstowe 11">
            <a:extLst>
              <a:ext uri="{FF2B5EF4-FFF2-40B4-BE49-F238E27FC236}">
                <a16:creationId xmlns:a16="http://schemas.microsoft.com/office/drawing/2014/main" id="{3426F6EF-F818-F6B6-294E-949288747DA9}"/>
              </a:ext>
            </a:extLst>
          </p:cNvPr>
          <p:cNvSpPr txBox="1"/>
          <p:nvPr/>
        </p:nvSpPr>
        <p:spPr>
          <a:xfrm>
            <a:off x="4296000" y="1225689"/>
            <a:ext cx="3600000" cy="5632311"/>
          </a:xfrm>
          <a:prstGeom prst="rect">
            <a:avLst/>
          </a:prstGeom>
          <a:noFill/>
        </p:spPr>
        <p:txBody>
          <a:bodyPr wrap="square">
            <a:spAutoFit/>
          </a:bodyPr>
          <a:lstStyle/>
          <a:p>
            <a:pPr algn="just"/>
            <a:r>
              <a:rPr lang="en-US" b="1" i="0" dirty="0">
                <a:solidFill>
                  <a:srgbClr val="242424"/>
                </a:solidFill>
                <a:effectLst/>
                <a:highlight>
                  <a:srgbClr val="FFFFFF"/>
                </a:highlight>
                <a:latin typeface="source-serif-pro"/>
              </a:rPr>
              <a:t>Feature Description:</a:t>
            </a:r>
            <a:endParaRPr lang="pl-PL" b="1" i="0" dirty="0">
              <a:solidFill>
                <a:srgbClr val="242424"/>
              </a:solidFill>
              <a:effectLst/>
              <a:highlight>
                <a:srgbClr val="FFFFFF"/>
              </a:highlight>
              <a:latin typeface="source-serif-pro"/>
            </a:endParaRPr>
          </a:p>
          <a:p>
            <a:pPr algn="just"/>
            <a:r>
              <a:rPr lang="en-US" b="0" i="0" dirty="0">
                <a:solidFill>
                  <a:srgbClr val="242424"/>
                </a:solidFill>
                <a:effectLst/>
                <a:highlight>
                  <a:srgbClr val="FFFFFF"/>
                </a:highlight>
                <a:latin typeface="source-serif-pro"/>
              </a:rPr>
              <a:t>Once relevant features are detected, the next step is to describe these features in a way that allows for efficient matching and recognition. The goal is to create a representation of the features that captures their distinctive characteristics while being resistant to variations that might occur in real-world images.</a:t>
            </a:r>
          </a:p>
          <a:p>
            <a:pPr algn="just">
              <a:buFont typeface="Arial" panose="020B0604020202020204" pitchFamily="34" charset="0"/>
              <a:buChar char="•"/>
            </a:pPr>
            <a:r>
              <a:rPr lang="en-US" i="0" dirty="0">
                <a:solidFill>
                  <a:srgbClr val="242424"/>
                </a:solidFill>
                <a:effectLst/>
                <a:highlight>
                  <a:srgbClr val="FFFFFF"/>
                </a:highlight>
                <a:latin typeface="source-serif-pro"/>
              </a:rPr>
              <a:t>Histogram of Oriented Gradients (HOG)</a:t>
            </a:r>
          </a:p>
          <a:p>
            <a:pPr algn="just">
              <a:buFont typeface="Arial" panose="020B0604020202020204" pitchFamily="34" charset="0"/>
              <a:buChar char="•"/>
            </a:pPr>
            <a:r>
              <a:rPr lang="en-US" i="0" dirty="0">
                <a:solidFill>
                  <a:srgbClr val="242424"/>
                </a:solidFill>
                <a:effectLst/>
                <a:highlight>
                  <a:srgbClr val="FFFFFF"/>
                </a:highlight>
                <a:latin typeface="source-serif-pro"/>
              </a:rPr>
              <a:t>Scale-Invariant Feature Transform (SIFT</a:t>
            </a:r>
            <a:r>
              <a:rPr lang="pl-PL" i="0" dirty="0">
                <a:solidFill>
                  <a:srgbClr val="242424"/>
                </a:solidFill>
                <a:effectLst/>
                <a:highlight>
                  <a:srgbClr val="FFFFFF"/>
                </a:highlight>
                <a:latin typeface="source-serif-pro"/>
              </a:rPr>
              <a:t>)</a:t>
            </a:r>
            <a:endParaRPr lang="en-US" i="0" dirty="0">
              <a:solidFill>
                <a:srgbClr val="242424"/>
              </a:solidFill>
              <a:effectLst/>
              <a:highlight>
                <a:srgbClr val="FFFFFF"/>
              </a:highlight>
              <a:latin typeface="source-serif-pro"/>
            </a:endParaRPr>
          </a:p>
          <a:p>
            <a:pPr algn="just">
              <a:buFont typeface="Arial" panose="020B0604020202020204" pitchFamily="34" charset="0"/>
              <a:buChar char="•"/>
            </a:pPr>
            <a:r>
              <a:rPr lang="en-US" i="0" dirty="0">
                <a:solidFill>
                  <a:srgbClr val="242424"/>
                </a:solidFill>
                <a:effectLst/>
                <a:highlight>
                  <a:srgbClr val="FFFFFF"/>
                </a:highlight>
                <a:latin typeface="source-serif-pro"/>
              </a:rPr>
              <a:t>Speeded-Up Robust Features (SURF)</a:t>
            </a:r>
          </a:p>
          <a:p>
            <a:pPr algn="just">
              <a:buFont typeface="Arial" panose="020B0604020202020204" pitchFamily="34" charset="0"/>
              <a:buChar char="•"/>
            </a:pPr>
            <a:r>
              <a:rPr lang="en-US" i="0" dirty="0">
                <a:solidFill>
                  <a:srgbClr val="242424"/>
                </a:solidFill>
                <a:effectLst/>
                <a:highlight>
                  <a:srgbClr val="FFFFFF"/>
                </a:highlight>
                <a:latin typeface="source-serif-pro"/>
              </a:rPr>
              <a:t>Local Binary Pattern (LBP</a:t>
            </a:r>
            <a:r>
              <a:rPr lang="pl-PL" i="0" dirty="0">
                <a:solidFill>
                  <a:srgbClr val="242424"/>
                </a:solidFill>
                <a:effectLst/>
                <a:highlight>
                  <a:srgbClr val="FFFFFF"/>
                </a:highlight>
                <a:latin typeface="source-serif-pro"/>
              </a:rPr>
              <a:t>)</a:t>
            </a:r>
            <a:endParaRPr lang="en-US" i="0" dirty="0">
              <a:solidFill>
                <a:srgbClr val="242424"/>
              </a:solidFill>
              <a:effectLst/>
              <a:highlight>
                <a:srgbClr val="FFFFFF"/>
              </a:highlight>
              <a:latin typeface="source-serif-pro"/>
            </a:endParaRPr>
          </a:p>
          <a:p>
            <a:pPr algn="just">
              <a:buFont typeface="Arial" panose="020B0604020202020204" pitchFamily="34" charset="0"/>
              <a:buChar char="•"/>
            </a:pPr>
            <a:r>
              <a:rPr lang="en-US" i="0" dirty="0">
                <a:solidFill>
                  <a:srgbClr val="242424"/>
                </a:solidFill>
                <a:effectLst/>
                <a:highlight>
                  <a:srgbClr val="FFFFFF"/>
                </a:highlight>
                <a:latin typeface="source-serif-pro"/>
              </a:rPr>
              <a:t>Binary Robust Invariant Scalable </a:t>
            </a:r>
            <a:r>
              <a:rPr lang="en-US" i="0" dirty="0" err="1">
                <a:solidFill>
                  <a:srgbClr val="242424"/>
                </a:solidFill>
                <a:effectLst/>
                <a:highlight>
                  <a:srgbClr val="FFFFFF"/>
                </a:highlight>
                <a:latin typeface="source-serif-pro"/>
              </a:rPr>
              <a:t>Keypoints</a:t>
            </a:r>
            <a:r>
              <a:rPr lang="en-US" i="0" dirty="0">
                <a:solidFill>
                  <a:srgbClr val="242424"/>
                </a:solidFill>
                <a:effectLst/>
                <a:highlight>
                  <a:srgbClr val="FFFFFF"/>
                </a:highlight>
                <a:latin typeface="source-serif-pro"/>
              </a:rPr>
              <a:t> (BRISK)</a:t>
            </a:r>
          </a:p>
        </p:txBody>
      </p:sp>
      <p:sp>
        <p:nvSpPr>
          <p:cNvPr id="14" name="pole tekstowe 13">
            <a:extLst>
              <a:ext uri="{FF2B5EF4-FFF2-40B4-BE49-F238E27FC236}">
                <a16:creationId xmlns:a16="http://schemas.microsoft.com/office/drawing/2014/main" id="{9D718B74-B7D9-02C8-A33D-0CCB7154C2A4}"/>
              </a:ext>
            </a:extLst>
          </p:cNvPr>
          <p:cNvSpPr txBox="1"/>
          <p:nvPr/>
        </p:nvSpPr>
        <p:spPr>
          <a:xfrm>
            <a:off x="8240852" y="1225689"/>
            <a:ext cx="3600000" cy="2585323"/>
          </a:xfrm>
          <a:prstGeom prst="rect">
            <a:avLst/>
          </a:prstGeom>
          <a:noFill/>
        </p:spPr>
        <p:txBody>
          <a:bodyPr wrap="square">
            <a:spAutoFit/>
          </a:bodyPr>
          <a:lstStyle/>
          <a:p>
            <a:pPr algn="just"/>
            <a:r>
              <a:rPr lang="en-US" b="1" i="0" dirty="0">
                <a:solidFill>
                  <a:srgbClr val="242424"/>
                </a:solidFill>
                <a:effectLst/>
                <a:highlight>
                  <a:srgbClr val="FFFFFF"/>
                </a:highlight>
                <a:latin typeface="source-serif-pro"/>
              </a:rPr>
              <a:t>Feature Matching: </a:t>
            </a:r>
            <a:r>
              <a:rPr lang="en-US" b="0" i="0" dirty="0">
                <a:solidFill>
                  <a:srgbClr val="242424"/>
                </a:solidFill>
                <a:effectLst/>
                <a:highlight>
                  <a:srgbClr val="FFFFFF"/>
                </a:highlight>
                <a:latin typeface="source-serif-pro"/>
              </a:rPr>
              <a:t>After detecting and describing features in multiple images, feature matching involves finding correspondences between the features in different images. This step is crucial for tasks like object recognition, image alignment, and 3D reconstruction.</a:t>
            </a:r>
          </a:p>
          <a:p>
            <a:pPr algn="just">
              <a:buFont typeface="Arial" panose="020B0604020202020204" pitchFamily="34" charset="0"/>
              <a:buChar char="•"/>
            </a:pPr>
            <a:r>
              <a:rPr lang="en-US" i="0" dirty="0">
                <a:solidFill>
                  <a:srgbClr val="242424"/>
                </a:solidFill>
                <a:effectLst/>
                <a:highlight>
                  <a:srgbClr val="FFFFFF"/>
                </a:highlight>
                <a:latin typeface="source-serif-pro"/>
              </a:rPr>
              <a:t>Nearest Neighbor Matching</a:t>
            </a:r>
          </a:p>
          <a:p>
            <a:pPr algn="just">
              <a:buFont typeface="Arial" panose="020B0604020202020204" pitchFamily="34" charset="0"/>
              <a:buChar char="•"/>
            </a:pPr>
            <a:r>
              <a:rPr lang="en-US" i="0" dirty="0">
                <a:solidFill>
                  <a:srgbClr val="242424"/>
                </a:solidFill>
                <a:effectLst/>
                <a:highlight>
                  <a:srgbClr val="FFFFFF"/>
                </a:highlight>
                <a:latin typeface="source-serif-pro"/>
              </a:rPr>
              <a:t>Ratio Test</a:t>
            </a:r>
          </a:p>
        </p:txBody>
      </p:sp>
      <p:sp>
        <p:nvSpPr>
          <p:cNvPr id="15" name="Prostokąt 14">
            <a:extLst>
              <a:ext uri="{FF2B5EF4-FFF2-40B4-BE49-F238E27FC236}">
                <a16:creationId xmlns:a16="http://schemas.microsoft.com/office/drawing/2014/main" id="{B75ECC87-6F8E-4290-594E-2484C4F96676}"/>
              </a:ext>
            </a:extLst>
          </p:cNvPr>
          <p:cNvSpPr/>
          <p:nvPr/>
        </p:nvSpPr>
        <p:spPr>
          <a:xfrm>
            <a:off x="1151739" y="522087"/>
            <a:ext cx="1998817" cy="923330"/>
          </a:xfrm>
          <a:prstGeom prst="rect">
            <a:avLst/>
          </a:prstGeom>
          <a:noFill/>
        </p:spPr>
        <p:txBody>
          <a:bodyPr wrap="none" lIns="91440" tIns="45720" rIns="91440" bIns="45720">
            <a:spAutoFit/>
          </a:bodyPr>
          <a:lstStyle/>
          <a:p>
            <a:pPr algn="ctr"/>
            <a:r>
              <a:rPr lang="pl-PL"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Step.1</a:t>
            </a:r>
          </a:p>
        </p:txBody>
      </p:sp>
      <p:sp>
        <p:nvSpPr>
          <p:cNvPr id="16" name="Prostokąt 15">
            <a:extLst>
              <a:ext uri="{FF2B5EF4-FFF2-40B4-BE49-F238E27FC236}">
                <a16:creationId xmlns:a16="http://schemas.microsoft.com/office/drawing/2014/main" id="{84AD7560-9F01-9FC6-F838-FA5A3D12414A}"/>
              </a:ext>
            </a:extLst>
          </p:cNvPr>
          <p:cNvSpPr/>
          <p:nvPr/>
        </p:nvSpPr>
        <p:spPr>
          <a:xfrm>
            <a:off x="5096591" y="522087"/>
            <a:ext cx="1998817" cy="923330"/>
          </a:xfrm>
          <a:prstGeom prst="rect">
            <a:avLst/>
          </a:prstGeom>
          <a:noFill/>
        </p:spPr>
        <p:txBody>
          <a:bodyPr wrap="none" lIns="91440" tIns="45720" rIns="91440" bIns="45720">
            <a:spAutoFit/>
          </a:bodyPr>
          <a:lstStyle/>
          <a:p>
            <a:pPr algn="ctr"/>
            <a:r>
              <a:rPr lang="pl-PL"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Step.2</a:t>
            </a:r>
          </a:p>
        </p:txBody>
      </p:sp>
      <p:sp>
        <p:nvSpPr>
          <p:cNvPr id="17" name="Prostokąt 16">
            <a:extLst>
              <a:ext uri="{FF2B5EF4-FFF2-40B4-BE49-F238E27FC236}">
                <a16:creationId xmlns:a16="http://schemas.microsoft.com/office/drawing/2014/main" id="{1A0A65D3-94D5-D48B-5FBF-CAA78A62A4C8}"/>
              </a:ext>
            </a:extLst>
          </p:cNvPr>
          <p:cNvSpPr/>
          <p:nvPr/>
        </p:nvSpPr>
        <p:spPr>
          <a:xfrm>
            <a:off x="9041444" y="522087"/>
            <a:ext cx="1998817" cy="923330"/>
          </a:xfrm>
          <a:prstGeom prst="rect">
            <a:avLst/>
          </a:prstGeom>
          <a:noFill/>
        </p:spPr>
        <p:txBody>
          <a:bodyPr wrap="none" lIns="91440" tIns="45720" rIns="91440" bIns="45720">
            <a:spAutoFit/>
          </a:bodyPr>
          <a:lstStyle/>
          <a:p>
            <a:pPr algn="ctr"/>
            <a:r>
              <a:rPr lang="pl-PL" sz="5400" b="1" dirty="0">
                <a:ln w="22225">
                  <a:solidFill>
                    <a:schemeClr val="accent2"/>
                  </a:solidFill>
                  <a:prstDash val="solid"/>
                </a:ln>
                <a:solidFill>
                  <a:schemeClr val="accent2">
                    <a:lumMod val="40000"/>
                    <a:lumOff val="60000"/>
                  </a:schemeClr>
                </a:solidFill>
              </a:rPr>
              <a:t>Step.3</a:t>
            </a:r>
          </a:p>
        </p:txBody>
      </p:sp>
      <p:sp>
        <p:nvSpPr>
          <p:cNvPr id="18" name="pole tekstowe 17">
            <a:extLst>
              <a:ext uri="{FF2B5EF4-FFF2-40B4-BE49-F238E27FC236}">
                <a16:creationId xmlns:a16="http://schemas.microsoft.com/office/drawing/2014/main" id="{1A9948C4-7E81-2637-1A21-CBFA65A9CC10}"/>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https://sumit-kr-sharma.medium.com/feature-detection-and-description-in-computer-vision-657171e43d19</a:t>
            </a:r>
          </a:p>
        </p:txBody>
      </p:sp>
    </p:spTree>
    <p:extLst>
      <p:ext uri="{BB962C8B-B14F-4D97-AF65-F5344CB8AC3E}">
        <p14:creationId xmlns:p14="http://schemas.microsoft.com/office/powerpoint/2010/main" val="3756974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F</a:t>
            </a:r>
            <a:r>
              <a:rPr lang="en-US" dirty="0" err="1"/>
              <a:t>eature</a:t>
            </a:r>
            <a:r>
              <a:rPr lang="pl-PL" dirty="0"/>
              <a:t>s:</a:t>
            </a:r>
            <a:r>
              <a:rPr lang="en-US" dirty="0"/>
              <a:t> </a:t>
            </a:r>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detection</a:t>
            </a:r>
            <a:r>
              <a:rPr lang="pl-PL" dirty="0"/>
              <a:t>, </a:t>
            </a:r>
            <a:r>
              <a:rPr lang="pl-PL" dirty="0" err="1"/>
              <a:t>description</a:t>
            </a:r>
            <a:r>
              <a:rPr lang="pl-PL" dirty="0"/>
              <a:t>, </a:t>
            </a:r>
            <a:r>
              <a:rPr lang="pl-PL" dirty="0" err="1"/>
              <a:t>matching</a:t>
            </a:r>
            <a:r>
              <a:rPr lang="pl-PL" dirty="0"/>
              <a:t>.</a:t>
            </a:r>
            <a:endParaRPr lang="en-GB" dirty="0"/>
          </a:p>
        </p:txBody>
      </p:sp>
      <p:sp>
        <p:nvSpPr>
          <p:cNvPr id="4" name="pole tekstowe 3">
            <a:extLst>
              <a:ext uri="{FF2B5EF4-FFF2-40B4-BE49-F238E27FC236}">
                <a16:creationId xmlns:a16="http://schemas.microsoft.com/office/drawing/2014/main" id="{8C9A6EF1-EF42-475B-6F9C-1DCCD76BED0F}"/>
              </a:ext>
            </a:extLst>
          </p:cNvPr>
          <p:cNvSpPr txBox="1"/>
          <p:nvPr/>
        </p:nvSpPr>
        <p:spPr>
          <a:xfrm>
            <a:off x="6315179" y="1333410"/>
            <a:ext cx="4725081" cy="4662815"/>
          </a:xfrm>
          <a:prstGeom prst="rect">
            <a:avLst/>
          </a:prstGeom>
          <a:noFill/>
        </p:spPr>
        <p:txBody>
          <a:bodyPr wrap="square">
            <a:spAutoFit/>
          </a:bodyPr>
          <a:lstStyle/>
          <a:p>
            <a:pPr algn="l"/>
            <a:r>
              <a:rPr lang="en-US" b="1" i="0" dirty="0">
                <a:solidFill>
                  <a:srgbClr val="242424"/>
                </a:solidFill>
                <a:effectLst/>
                <a:highlight>
                  <a:srgbClr val="FFFFFF"/>
                </a:highlight>
                <a:latin typeface="source-serif-pro"/>
              </a:rPr>
              <a:t>Common Techniques for Feature Detection:</a:t>
            </a:r>
            <a:endParaRPr lang="en-US" b="0" i="0" dirty="0">
              <a:solidFill>
                <a:srgbClr val="242424"/>
              </a:solidFill>
              <a:effectLst/>
              <a:highlight>
                <a:srgbClr val="FFFFFF"/>
              </a:highlight>
              <a:latin typeface="source-serif-pro"/>
            </a:endParaRPr>
          </a:p>
          <a:p>
            <a:pPr algn="l">
              <a:spcBef>
                <a:spcPts val="600"/>
              </a:spcBef>
              <a:spcAft>
                <a:spcPts val="600"/>
              </a:spcAft>
              <a:buFont typeface="Arial" panose="020B0604020202020204" pitchFamily="34" charset="0"/>
              <a:buChar char="•"/>
            </a:pPr>
            <a:r>
              <a:rPr lang="en-US" b="1" i="0" dirty="0">
                <a:solidFill>
                  <a:srgbClr val="242424"/>
                </a:solidFill>
                <a:effectLst/>
                <a:highlight>
                  <a:srgbClr val="FFFFFF"/>
                </a:highlight>
                <a:latin typeface="source-serif-pro"/>
              </a:rPr>
              <a:t>Harris Corner Detection: </a:t>
            </a:r>
            <a:r>
              <a:rPr lang="en-US" b="0" i="0" dirty="0">
                <a:solidFill>
                  <a:srgbClr val="242424"/>
                </a:solidFill>
                <a:effectLst/>
                <a:highlight>
                  <a:srgbClr val="FFFFFF"/>
                </a:highlight>
                <a:latin typeface="source-serif-pro"/>
              </a:rPr>
              <a:t>Detects corners in an image by analyzing changes in intensity in different directions.</a:t>
            </a:r>
          </a:p>
          <a:p>
            <a:pPr algn="l">
              <a:spcBef>
                <a:spcPts val="600"/>
              </a:spcBef>
              <a:spcAft>
                <a:spcPts val="600"/>
              </a:spcAft>
              <a:buFont typeface="Arial" panose="020B0604020202020204" pitchFamily="34" charset="0"/>
              <a:buChar char="•"/>
            </a:pPr>
            <a:r>
              <a:rPr lang="en-US" b="1" i="0" dirty="0">
                <a:solidFill>
                  <a:srgbClr val="242424"/>
                </a:solidFill>
                <a:effectLst/>
                <a:highlight>
                  <a:srgbClr val="FFFFFF"/>
                </a:highlight>
                <a:latin typeface="source-serif-pro"/>
              </a:rPr>
              <a:t>Shi-</a:t>
            </a:r>
            <a:r>
              <a:rPr lang="en-US" b="1" i="0" dirty="0" err="1">
                <a:solidFill>
                  <a:srgbClr val="242424"/>
                </a:solidFill>
                <a:effectLst/>
                <a:highlight>
                  <a:srgbClr val="FFFFFF"/>
                </a:highlight>
                <a:latin typeface="source-serif-pro"/>
              </a:rPr>
              <a:t>Tomasi</a:t>
            </a:r>
            <a:r>
              <a:rPr lang="en-US" b="1" i="0" dirty="0">
                <a:solidFill>
                  <a:srgbClr val="242424"/>
                </a:solidFill>
                <a:effectLst/>
                <a:highlight>
                  <a:srgbClr val="FFFFFF"/>
                </a:highlight>
                <a:latin typeface="source-serif-pro"/>
              </a:rPr>
              <a:t> Corner Detection:</a:t>
            </a:r>
            <a:r>
              <a:rPr lang="en-US" b="0" i="0" dirty="0">
                <a:solidFill>
                  <a:srgbClr val="242424"/>
                </a:solidFill>
                <a:effectLst/>
                <a:highlight>
                  <a:srgbClr val="FFFFFF"/>
                </a:highlight>
                <a:latin typeface="source-serif-pro"/>
              </a:rPr>
              <a:t> An improvement over Harris corner detection, it selects the best corners based on a corner response measure.</a:t>
            </a:r>
          </a:p>
          <a:p>
            <a:pPr algn="l">
              <a:spcBef>
                <a:spcPts val="600"/>
              </a:spcBef>
              <a:spcAft>
                <a:spcPts val="600"/>
              </a:spcAft>
              <a:buFont typeface="Arial" panose="020B0604020202020204" pitchFamily="34" charset="0"/>
              <a:buChar char="•"/>
            </a:pPr>
            <a:r>
              <a:rPr lang="en-US" b="1" i="0" dirty="0">
                <a:solidFill>
                  <a:srgbClr val="242424"/>
                </a:solidFill>
                <a:effectLst/>
                <a:highlight>
                  <a:srgbClr val="FFFFFF"/>
                </a:highlight>
                <a:latin typeface="source-serif-pro"/>
              </a:rPr>
              <a:t>Canny Edge Detection:</a:t>
            </a:r>
            <a:r>
              <a:rPr lang="en-US" b="0" i="0" dirty="0">
                <a:solidFill>
                  <a:srgbClr val="242424"/>
                </a:solidFill>
                <a:effectLst/>
                <a:highlight>
                  <a:srgbClr val="FFFFFF"/>
                </a:highlight>
                <a:latin typeface="source-serif-pro"/>
              </a:rPr>
              <a:t> Detects edges in an image by finding areas of rapid intensity change.</a:t>
            </a:r>
          </a:p>
          <a:p>
            <a:pPr algn="l">
              <a:spcBef>
                <a:spcPts val="600"/>
              </a:spcBef>
              <a:spcAft>
                <a:spcPts val="600"/>
              </a:spcAft>
              <a:buFont typeface="Arial" panose="020B0604020202020204" pitchFamily="34" charset="0"/>
              <a:buChar char="•"/>
            </a:pPr>
            <a:r>
              <a:rPr lang="en-US" b="1" i="0" dirty="0">
                <a:solidFill>
                  <a:srgbClr val="242424"/>
                </a:solidFill>
                <a:effectLst/>
                <a:highlight>
                  <a:srgbClr val="FFFFFF"/>
                </a:highlight>
                <a:latin typeface="source-serif-pro"/>
              </a:rPr>
              <a:t>Blob Detection: </a:t>
            </a:r>
            <a:r>
              <a:rPr lang="en-US" b="0" i="0" dirty="0">
                <a:solidFill>
                  <a:srgbClr val="242424"/>
                </a:solidFill>
                <a:effectLst/>
                <a:highlight>
                  <a:srgbClr val="FFFFFF"/>
                </a:highlight>
                <a:latin typeface="source-serif-pro"/>
              </a:rPr>
              <a:t>Identifies regions in an image with a relatively uniform intensity.</a:t>
            </a:r>
          </a:p>
          <a:p>
            <a:pPr algn="l">
              <a:spcBef>
                <a:spcPts val="600"/>
              </a:spcBef>
              <a:spcAft>
                <a:spcPts val="600"/>
              </a:spcAft>
              <a:buFont typeface="Arial" panose="020B0604020202020204" pitchFamily="34" charset="0"/>
              <a:buChar char="•"/>
            </a:pPr>
            <a:r>
              <a:rPr lang="en-US" b="1" i="0" dirty="0">
                <a:solidFill>
                  <a:srgbClr val="242424"/>
                </a:solidFill>
                <a:effectLst/>
                <a:highlight>
                  <a:srgbClr val="FFFFFF"/>
                </a:highlight>
                <a:latin typeface="source-serif-pro"/>
              </a:rPr>
              <a:t>Scale-Invariant Feature Transform (SIFT):</a:t>
            </a:r>
            <a:r>
              <a:rPr lang="en-US" b="0" i="0" dirty="0">
                <a:solidFill>
                  <a:srgbClr val="242424"/>
                </a:solidFill>
                <a:effectLst/>
                <a:highlight>
                  <a:srgbClr val="FFFFFF"/>
                </a:highlight>
                <a:latin typeface="source-serif-pro"/>
              </a:rPr>
              <a:t> Detects </a:t>
            </a:r>
            <a:r>
              <a:rPr lang="en-US" b="0" i="0" dirty="0" err="1">
                <a:solidFill>
                  <a:srgbClr val="242424"/>
                </a:solidFill>
                <a:effectLst/>
                <a:highlight>
                  <a:srgbClr val="FFFFFF"/>
                </a:highlight>
                <a:latin typeface="source-serif-pro"/>
              </a:rPr>
              <a:t>keypoints</a:t>
            </a:r>
            <a:r>
              <a:rPr lang="en-US" b="0" i="0" dirty="0">
                <a:solidFill>
                  <a:srgbClr val="242424"/>
                </a:solidFill>
                <a:effectLst/>
                <a:highlight>
                  <a:srgbClr val="FFFFFF"/>
                </a:highlight>
                <a:latin typeface="source-serif-pro"/>
              </a:rPr>
              <a:t> that are invariant to scale and rotation changes.</a:t>
            </a:r>
          </a:p>
        </p:txBody>
      </p:sp>
      <p:sp>
        <p:nvSpPr>
          <p:cNvPr id="5" name="pole tekstowe 4">
            <a:extLst>
              <a:ext uri="{FF2B5EF4-FFF2-40B4-BE49-F238E27FC236}">
                <a16:creationId xmlns:a16="http://schemas.microsoft.com/office/drawing/2014/main" id="{86B74915-4CDF-2F27-1A62-6ABE5709627C}"/>
              </a:ext>
            </a:extLst>
          </p:cNvPr>
          <p:cNvSpPr txBox="1"/>
          <p:nvPr/>
        </p:nvSpPr>
        <p:spPr>
          <a:xfrm>
            <a:off x="0" y="6550223"/>
            <a:ext cx="12191999" cy="307777"/>
          </a:xfrm>
          <a:prstGeom prst="rect">
            <a:avLst/>
          </a:prstGeom>
          <a:noFill/>
        </p:spPr>
        <p:txBody>
          <a:bodyPr wrap="square">
            <a:spAutoFit/>
          </a:bodyPr>
          <a:lstStyle/>
          <a:p>
            <a:pPr algn="ctr"/>
            <a:r>
              <a:rPr lang="en-GB" sz="1400" dirty="0">
                <a:solidFill>
                  <a:srgbClr val="00B0F0"/>
                </a:solidFill>
              </a:rPr>
              <a:t>https://sumit-kr-sharma.medium.com/feature-detection-and-description-in-computer-vision-657171e43d19</a:t>
            </a:r>
          </a:p>
        </p:txBody>
      </p:sp>
      <p:pic>
        <p:nvPicPr>
          <p:cNvPr id="7" name="Obraz 6">
            <a:extLst>
              <a:ext uri="{FF2B5EF4-FFF2-40B4-BE49-F238E27FC236}">
                <a16:creationId xmlns:a16="http://schemas.microsoft.com/office/drawing/2014/main" id="{23758A16-5E55-8E09-C8DA-67CEB450978A}"/>
              </a:ext>
            </a:extLst>
          </p:cNvPr>
          <p:cNvPicPr>
            <a:picLocks noChangeAspect="1"/>
          </p:cNvPicPr>
          <p:nvPr/>
        </p:nvPicPr>
        <p:blipFill>
          <a:blip r:embed="rId3"/>
          <a:stretch>
            <a:fillRect/>
          </a:stretch>
        </p:blipFill>
        <p:spPr>
          <a:xfrm>
            <a:off x="424290" y="1338835"/>
            <a:ext cx="5452532" cy="5211388"/>
          </a:xfrm>
          <a:prstGeom prst="rect">
            <a:avLst/>
          </a:prstGeom>
        </p:spPr>
      </p:pic>
    </p:spTree>
    <p:extLst>
      <p:ext uri="{BB962C8B-B14F-4D97-AF65-F5344CB8AC3E}">
        <p14:creationId xmlns:p14="http://schemas.microsoft.com/office/powerpoint/2010/main" val="41793379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15A0378-4DF3-FA8A-CA9E-325633D571CF}"/>
              </a:ext>
            </a:extLst>
          </p:cNvPr>
          <p:cNvSpPr>
            <a:spLocks noGrp="1"/>
          </p:cNvSpPr>
          <p:nvPr>
            <p:ph type="title"/>
          </p:nvPr>
        </p:nvSpPr>
        <p:spPr>
          <a:xfrm>
            <a:off x="239935" y="171451"/>
            <a:ext cx="5683787" cy="6467888"/>
          </a:xfrm>
        </p:spPr>
        <p:txBody>
          <a:bodyPr>
            <a:noAutofit/>
          </a:bodyPr>
          <a:lstStyle/>
          <a:p>
            <a:pPr>
              <a:lnSpc>
                <a:spcPct val="150000"/>
              </a:lnSpc>
            </a:pPr>
            <a:r>
              <a:rPr lang="pl-PL" sz="3600" b="1" dirty="0" err="1"/>
              <a:t>Code</a:t>
            </a:r>
            <a:r>
              <a:rPr lang="pl-PL" sz="3600" b="1" dirty="0"/>
              <a:t> :</a:t>
            </a:r>
            <a:br>
              <a:rPr lang="pl-PL" sz="3600" dirty="0"/>
            </a:br>
            <a:br>
              <a:rPr lang="pl-PL" sz="3600" dirty="0"/>
            </a:br>
            <a:r>
              <a:rPr lang="pl-PL" sz="3600" dirty="0"/>
              <a:t>01 Harris </a:t>
            </a:r>
            <a:r>
              <a:rPr lang="pl-PL" sz="3600" dirty="0" err="1"/>
              <a:t>Corner</a:t>
            </a:r>
            <a:r>
              <a:rPr lang="pl-PL" sz="3600" dirty="0"/>
              <a:t> Detection.py</a:t>
            </a:r>
            <a:br>
              <a:rPr lang="pl-PL" sz="3600" dirty="0"/>
            </a:br>
            <a:r>
              <a:rPr lang="en-US" sz="3600" dirty="0"/>
              <a:t>02 Good Features to Track</a:t>
            </a:r>
            <a:r>
              <a:rPr lang="pl-PL" sz="3600" dirty="0"/>
              <a:t>.</a:t>
            </a:r>
            <a:r>
              <a:rPr lang="pl-PL" sz="3600" dirty="0" err="1"/>
              <a:t>py</a:t>
            </a:r>
            <a:br>
              <a:rPr lang="pl-PL" sz="3600" dirty="0"/>
            </a:br>
            <a:r>
              <a:rPr lang="pl-PL" sz="3600" dirty="0"/>
              <a:t>03 </a:t>
            </a:r>
            <a:r>
              <a:rPr lang="pl-PL" sz="3600" dirty="0" err="1"/>
              <a:t>Scale-Invariant</a:t>
            </a:r>
            <a:r>
              <a:rPr lang="pl-PL" sz="3600" dirty="0"/>
              <a:t> </a:t>
            </a:r>
            <a:r>
              <a:rPr lang="pl-PL" sz="3600" dirty="0" err="1"/>
              <a:t>Feature</a:t>
            </a:r>
            <a:r>
              <a:rPr lang="pl-PL" sz="3600" dirty="0"/>
              <a:t> </a:t>
            </a:r>
            <a:r>
              <a:rPr lang="pl-PL" sz="3600" dirty="0" err="1"/>
              <a:t>Transform</a:t>
            </a:r>
            <a:r>
              <a:rPr lang="pl-PL" sz="3600" dirty="0"/>
              <a:t> – SIFT.py</a:t>
            </a:r>
            <a:br>
              <a:rPr lang="pl-PL" sz="3600" dirty="0"/>
            </a:br>
            <a:r>
              <a:rPr lang="pl-PL" sz="3600" dirty="0"/>
              <a:t>04 </a:t>
            </a:r>
            <a:r>
              <a:rPr lang="pl-PL" sz="3600" dirty="0" err="1"/>
              <a:t>features</a:t>
            </a:r>
            <a:r>
              <a:rPr lang="pl-PL" sz="3600" dirty="0"/>
              <a:t> detection.py</a:t>
            </a:r>
            <a:endParaRPr lang="en-GB" sz="3600" dirty="0"/>
          </a:p>
        </p:txBody>
      </p:sp>
      <p:sp>
        <p:nvSpPr>
          <p:cNvPr id="6" name="pole tekstowe 5">
            <a:extLst>
              <a:ext uri="{FF2B5EF4-FFF2-40B4-BE49-F238E27FC236}">
                <a16:creationId xmlns:a16="http://schemas.microsoft.com/office/drawing/2014/main" id="{14CD8CC0-01B3-9CD8-A552-575D3BF7AF3B}"/>
              </a:ext>
            </a:extLst>
          </p:cNvPr>
          <p:cNvSpPr txBox="1"/>
          <p:nvPr/>
        </p:nvSpPr>
        <p:spPr>
          <a:xfrm>
            <a:off x="6907501" y="405920"/>
            <a:ext cx="4420378" cy="369332"/>
          </a:xfrm>
          <a:prstGeom prst="rect">
            <a:avLst/>
          </a:prstGeom>
          <a:solidFill>
            <a:schemeClr val="bg1"/>
          </a:solidFill>
        </p:spPr>
        <p:txBody>
          <a:bodyPr wrap="square">
            <a:spAutoFit/>
          </a:bodyPr>
          <a:lstStyle/>
          <a:p>
            <a:pPr algn="ctr"/>
            <a:r>
              <a:rPr lang="en-GB" b="1" dirty="0"/>
              <a:t>Mystery of Object Detection</a:t>
            </a:r>
          </a:p>
        </p:txBody>
      </p:sp>
      <p:sp>
        <p:nvSpPr>
          <p:cNvPr id="8" name="pole tekstowe 7">
            <a:extLst>
              <a:ext uri="{FF2B5EF4-FFF2-40B4-BE49-F238E27FC236}">
                <a16:creationId xmlns:a16="http://schemas.microsoft.com/office/drawing/2014/main" id="{770187DD-D51B-69E9-1C2D-E1862077F9F6}"/>
              </a:ext>
            </a:extLst>
          </p:cNvPr>
          <p:cNvSpPr txBox="1"/>
          <p:nvPr/>
        </p:nvSpPr>
        <p:spPr>
          <a:xfrm>
            <a:off x="7034729" y="5217629"/>
            <a:ext cx="4420378" cy="523220"/>
          </a:xfrm>
          <a:prstGeom prst="rect">
            <a:avLst/>
          </a:prstGeom>
          <a:solidFill>
            <a:schemeClr val="bg1"/>
          </a:solidFill>
        </p:spPr>
        <p:txBody>
          <a:bodyPr wrap="square">
            <a:spAutoFit/>
          </a:bodyPr>
          <a:lstStyle/>
          <a:p>
            <a:pPr algn="ctr"/>
            <a:r>
              <a:rPr lang="en-GB" sz="1400" dirty="0">
                <a:solidFill>
                  <a:schemeClr val="accent1"/>
                </a:solidFill>
              </a:rPr>
              <a:t>https://dudeperf3ct.github.io/object/detection/2019/01/07/Mystery-of-Object-Detection/</a:t>
            </a:r>
          </a:p>
        </p:txBody>
      </p:sp>
      <p:pic>
        <p:nvPicPr>
          <p:cNvPr id="1026" name="Picture 2" descr="Mystery of Object Detection – Blog">
            <a:extLst>
              <a:ext uri="{FF2B5EF4-FFF2-40B4-BE49-F238E27FC236}">
                <a16:creationId xmlns:a16="http://schemas.microsoft.com/office/drawing/2014/main" id="{AD62FD55-6DD2-6127-9697-BB88C4D3F5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3381" y="775252"/>
            <a:ext cx="6148619" cy="4442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8091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5A7B1C0-4145-B793-A748-9917B4C12EFE}"/>
              </a:ext>
            </a:extLst>
          </p:cNvPr>
          <p:cNvSpPr>
            <a:spLocks noGrp="1"/>
          </p:cNvSpPr>
          <p:nvPr>
            <p:ph type="title"/>
          </p:nvPr>
        </p:nvSpPr>
        <p:spPr>
          <a:xfrm>
            <a:off x="0" y="0"/>
            <a:ext cx="12192000" cy="741815"/>
          </a:xfrm>
        </p:spPr>
        <p:txBody>
          <a:bodyPr>
            <a:normAutofit/>
          </a:bodyPr>
          <a:lstStyle/>
          <a:p>
            <a:pPr algn="ctr"/>
            <a:r>
              <a:rPr lang="pl-PL" dirty="0"/>
              <a:t>F</a:t>
            </a:r>
            <a:r>
              <a:rPr lang="en-US" dirty="0" err="1"/>
              <a:t>eature</a:t>
            </a:r>
            <a:r>
              <a:rPr lang="pl-PL" dirty="0"/>
              <a:t>s:</a:t>
            </a:r>
            <a:r>
              <a:rPr lang="en-US" dirty="0"/>
              <a:t> detection</a:t>
            </a:r>
            <a:r>
              <a:rPr lang="pl-PL" dirty="0"/>
              <a:t>, </a:t>
            </a:r>
            <a:r>
              <a:rPr lang="pl-PL"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description</a:t>
            </a:r>
            <a:r>
              <a:rPr lang="pl-PL" dirty="0"/>
              <a:t>, </a:t>
            </a:r>
            <a:r>
              <a:rPr lang="pl-PL" b="1" dirty="0" err="1">
                <a:ln w="22225">
                  <a:solidFill>
                    <a:schemeClr val="accent2"/>
                  </a:solidFill>
                  <a:prstDash val="solid"/>
                </a:ln>
                <a:solidFill>
                  <a:schemeClr val="accent2">
                    <a:lumMod val="40000"/>
                    <a:lumOff val="60000"/>
                  </a:schemeClr>
                </a:solidFill>
              </a:rPr>
              <a:t>matching</a:t>
            </a:r>
            <a:r>
              <a:rPr lang="pl-PL" dirty="0"/>
              <a:t>.</a:t>
            </a:r>
            <a:endParaRPr lang="en-GB" dirty="0"/>
          </a:p>
        </p:txBody>
      </p:sp>
      <p:sp>
        <p:nvSpPr>
          <p:cNvPr id="12" name="pole tekstowe 11">
            <a:extLst>
              <a:ext uri="{FF2B5EF4-FFF2-40B4-BE49-F238E27FC236}">
                <a16:creationId xmlns:a16="http://schemas.microsoft.com/office/drawing/2014/main" id="{3426F6EF-F818-F6B6-294E-949288747DA9}"/>
              </a:ext>
            </a:extLst>
          </p:cNvPr>
          <p:cNvSpPr txBox="1"/>
          <p:nvPr/>
        </p:nvSpPr>
        <p:spPr>
          <a:xfrm>
            <a:off x="262457" y="905826"/>
            <a:ext cx="5760000" cy="2031325"/>
          </a:xfrm>
          <a:prstGeom prst="rect">
            <a:avLst/>
          </a:prstGeom>
          <a:noFill/>
        </p:spPr>
        <p:txBody>
          <a:bodyPr wrap="square">
            <a:spAutoFit/>
          </a:bodyPr>
          <a:lstStyle/>
          <a:p>
            <a:pPr algn="just"/>
            <a:r>
              <a:rPr lang="en-US" b="1" i="0" dirty="0">
                <a:solidFill>
                  <a:srgbClr val="242424"/>
                </a:solidFill>
                <a:effectLst/>
                <a:highlight>
                  <a:srgbClr val="FFFFFF"/>
                </a:highlight>
                <a:latin typeface="source-serif-pro"/>
              </a:rPr>
              <a:t>Feature Description:</a:t>
            </a:r>
            <a:endParaRPr lang="pl-PL" b="1" i="0" dirty="0">
              <a:solidFill>
                <a:srgbClr val="242424"/>
              </a:solidFill>
              <a:effectLst/>
              <a:highlight>
                <a:srgbClr val="FFFFFF"/>
              </a:highlight>
              <a:latin typeface="source-serif-pro"/>
            </a:endParaRPr>
          </a:p>
          <a:p>
            <a:pPr algn="just"/>
            <a:r>
              <a:rPr lang="en-US" b="0" i="0" dirty="0">
                <a:solidFill>
                  <a:srgbClr val="242424"/>
                </a:solidFill>
                <a:effectLst/>
                <a:highlight>
                  <a:srgbClr val="FFFFFF"/>
                </a:highlight>
                <a:latin typeface="source-serif-pro"/>
              </a:rPr>
              <a:t>Once relevant features are detected, the next step is to describe these features in a way that allows for efficient matching and recognition. The goal is to create a representation of the features that captures their distinctive characteristics while being resistant to variations that might occur in real-world images.</a:t>
            </a:r>
            <a:endParaRPr lang="en-US" i="0" dirty="0">
              <a:solidFill>
                <a:srgbClr val="242424"/>
              </a:solidFill>
              <a:effectLst/>
              <a:highlight>
                <a:srgbClr val="FFFFFF"/>
              </a:highlight>
              <a:latin typeface="source-serif-pro"/>
            </a:endParaRPr>
          </a:p>
        </p:txBody>
      </p:sp>
      <p:sp>
        <p:nvSpPr>
          <p:cNvPr id="14" name="pole tekstowe 13">
            <a:extLst>
              <a:ext uri="{FF2B5EF4-FFF2-40B4-BE49-F238E27FC236}">
                <a16:creationId xmlns:a16="http://schemas.microsoft.com/office/drawing/2014/main" id="{9D718B74-B7D9-02C8-A33D-0CCB7154C2A4}"/>
              </a:ext>
            </a:extLst>
          </p:cNvPr>
          <p:cNvSpPr txBox="1"/>
          <p:nvPr/>
        </p:nvSpPr>
        <p:spPr>
          <a:xfrm>
            <a:off x="6238463" y="912134"/>
            <a:ext cx="5760000" cy="1477328"/>
          </a:xfrm>
          <a:prstGeom prst="rect">
            <a:avLst/>
          </a:prstGeom>
          <a:noFill/>
        </p:spPr>
        <p:txBody>
          <a:bodyPr wrap="square">
            <a:spAutoFit/>
          </a:bodyPr>
          <a:lstStyle/>
          <a:p>
            <a:pPr algn="just"/>
            <a:r>
              <a:rPr lang="en-US" b="1" i="0" dirty="0">
                <a:solidFill>
                  <a:srgbClr val="242424"/>
                </a:solidFill>
                <a:effectLst/>
                <a:highlight>
                  <a:srgbClr val="FFFFFF"/>
                </a:highlight>
                <a:latin typeface="source-serif-pro"/>
              </a:rPr>
              <a:t>Feature Matching: </a:t>
            </a:r>
            <a:r>
              <a:rPr lang="en-US" b="0" i="0" dirty="0">
                <a:solidFill>
                  <a:srgbClr val="242424"/>
                </a:solidFill>
                <a:effectLst/>
                <a:highlight>
                  <a:srgbClr val="FFFFFF"/>
                </a:highlight>
                <a:latin typeface="source-serif-pro"/>
              </a:rPr>
              <a:t>After detecting and describing features in multiple images, feature matching involves finding correspondences between the features in different images. This step is crucial for tasks like object recognition, image alignment, and 3D reconstruction.</a:t>
            </a:r>
            <a:endParaRPr lang="en-US" i="0" dirty="0">
              <a:solidFill>
                <a:srgbClr val="242424"/>
              </a:solidFill>
              <a:effectLst/>
              <a:highlight>
                <a:srgbClr val="FFFFFF"/>
              </a:highlight>
              <a:latin typeface="source-serif-pro"/>
            </a:endParaRPr>
          </a:p>
        </p:txBody>
      </p:sp>
      <p:pic>
        <p:nvPicPr>
          <p:cNvPr id="4" name="Obraz 3">
            <a:extLst>
              <a:ext uri="{FF2B5EF4-FFF2-40B4-BE49-F238E27FC236}">
                <a16:creationId xmlns:a16="http://schemas.microsoft.com/office/drawing/2014/main" id="{D4C84B73-3ECF-7592-4F6A-CBAC842FEF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4810" y="3329762"/>
            <a:ext cx="7515294" cy="3209533"/>
          </a:xfrm>
          <a:prstGeom prst="rect">
            <a:avLst/>
          </a:prstGeom>
        </p:spPr>
      </p:pic>
    </p:spTree>
    <p:extLst>
      <p:ext uri="{BB962C8B-B14F-4D97-AF65-F5344CB8AC3E}">
        <p14:creationId xmlns:p14="http://schemas.microsoft.com/office/powerpoint/2010/main" val="1405978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15A0378-4DF3-FA8A-CA9E-325633D571CF}"/>
              </a:ext>
            </a:extLst>
          </p:cNvPr>
          <p:cNvSpPr>
            <a:spLocks noGrp="1"/>
          </p:cNvSpPr>
          <p:nvPr>
            <p:ph type="title"/>
          </p:nvPr>
        </p:nvSpPr>
        <p:spPr>
          <a:xfrm>
            <a:off x="239935" y="171451"/>
            <a:ext cx="5683787" cy="6467888"/>
          </a:xfrm>
        </p:spPr>
        <p:txBody>
          <a:bodyPr>
            <a:noAutofit/>
          </a:bodyPr>
          <a:lstStyle/>
          <a:p>
            <a:pPr>
              <a:lnSpc>
                <a:spcPct val="100000"/>
              </a:lnSpc>
              <a:spcBef>
                <a:spcPts val="1200"/>
              </a:spcBef>
              <a:spcAft>
                <a:spcPts val="1200"/>
              </a:spcAft>
            </a:pPr>
            <a:r>
              <a:rPr lang="pl-PL" sz="3200" b="1" dirty="0" err="1"/>
              <a:t>Code</a:t>
            </a:r>
            <a:r>
              <a:rPr lang="pl-PL" sz="3200" b="1" dirty="0"/>
              <a:t> :</a:t>
            </a:r>
            <a:br>
              <a:rPr lang="pl-PL" sz="3200" b="1" dirty="0"/>
            </a:br>
            <a:br>
              <a:rPr lang="pl-PL" sz="3200" dirty="0"/>
            </a:br>
            <a:br>
              <a:rPr lang="pl-PL" sz="3200" dirty="0"/>
            </a:br>
            <a:r>
              <a:rPr lang="en-US" sz="3200" dirty="0"/>
              <a:t>05 Brute-Force Matching with SIFT Descriptors and Ratio Test</a:t>
            </a:r>
            <a:r>
              <a:rPr lang="pl-PL" sz="3200" dirty="0"/>
              <a:t>.</a:t>
            </a:r>
            <a:r>
              <a:rPr lang="pl-PL" sz="3200" dirty="0" err="1"/>
              <a:t>py</a:t>
            </a:r>
            <a:br>
              <a:rPr lang="pl-PL" sz="3200" dirty="0"/>
            </a:br>
            <a:br>
              <a:rPr lang="pl-PL" sz="3200" dirty="0"/>
            </a:br>
            <a:r>
              <a:rPr lang="en-US" sz="3200" dirty="0"/>
              <a:t>06 FLANN Matching with SIFT Descriptors and Ratio Test</a:t>
            </a:r>
            <a:r>
              <a:rPr lang="pl-PL" sz="3200" dirty="0"/>
              <a:t>.</a:t>
            </a:r>
            <a:r>
              <a:rPr lang="pl-PL" sz="3200" dirty="0" err="1"/>
              <a:t>py</a:t>
            </a:r>
            <a:br>
              <a:rPr lang="pl-PL" sz="3200" dirty="0"/>
            </a:br>
            <a:br>
              <a:rPr lang="pl-PL" sz="3200" dirty="0"/>
            </a:br>
            <a:r>
              <a:rPr lang="pl-PL" sz="3200" dirty="0"/>
              <a:t>07 </a:t>
            </a:r>
            <a:r>
              <a:rPr lang="pl-PL" sz="3200" dirty="0" err="1"/>
              <a:t>matching</a:t>
            </a:r>
            <a:r>
              <a:rPr lang="pl-PL" sz="3200" dirty="0"/>
              <a:t> and homography.py</a:t>
            </a:r>
            <a:endParaRPr lang="en-GB" sz="3200" dirty="0"/>
          </a:p>
        </p:txBody>
      </p:sp>
      <p:sp>
        <p:nvSpPr>
          <p:cNvPr id="8" name="pole tekstowe 7">
            <a:extLst>
              <a:ext uri="{FF2B5EF4-FFF2-40B4-BE49-F238E27FC236}">
                <a16:creationId xmlns:a16="http://schemas.microsoft.com/office/drawing/2014/main" id="{770187DD-D51B-69E9-1C2D-E1862077F9F6}"/>
              </a:ext>
            </a:extLst>
          </p:cNvPr>
          <p:cNvSpPr txBox="1"/>
          <p:nvPr/>
        </p:nvSpPr>
        <p:spPr>
          <a:xfrm>
            <a:off x="7422355" y="5923311"/>
            <a:ext cx="4420378" cy="523220"/>
          </a:xfrm>
          <a:prstGeom prst="rect">
            <a:avLst/>
          </a:prstGeom>
          <a:solidFill>
            <a:schemeClr val="bg1"/>
          </a:solidFill>
        </p:spPr>
        <p:txBody>
          <a:bodyPr wrap="square">
            <a:spAutoFit/>
          </a:bodyPr>
          <a:lstStyle/>
          <a:p>
            <a:pPr algn="ctr"/>
            <a:r>
              <a:rPr lang="en-GB" sz="1400" dirty="0">
                <a:solidFill>
                  <a:schemeClr val="accent1"/>
                </a:solidFill>
              </a:rPr>
              <a:t>https://medium.com/@madstreetden/what-is-computer-vision-really-4fb5a4c7dd8c</a:t>
            </a:r>
          </a:p>
        </p:txBody>
      </p:sp>
      <p:pic>
        <p:nvPicPr>
          <p:cNvPr id="2050" name="Picture 2" descr="What is Computer Vision, Really?. And how did it get in your apps… | by Mad  Street Den | Medium">
            <a:extLst>
              <a:ext uri="{FF2B5EF4-FFF2-40B4-BE49-F238E27FC236}">
                <a16:creationId xmlns:a16="http://schemas.microsoft.com/office/drawing/2014/main" id="{014C2512-35B4-8A6E-11B4-E4E9E17B9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43357" y="590309"/>
            <a:ext cx="3178374" cy="53330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4148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575077B-3D8C-6E1C-0A45-C33B0935EE05}"/>
              </a:ext>
            </a:extLst>
          </p:cNvPr>
          <p:cNvSpPr>
            <a:spLocks noGrp="1"/>
          </p:cNvSpPr>
          <p:nvPr>
            <p:ph type="title"/>
          </p:nvPr>
        </p:nvSpPr>
        <p:spPr>
          <a:xfrm>
            <a:off x="838200" y="190870"/>
            <a:ext cx="10515600" cy="840371"/>
          </a:xfrm>
        </p:spPr>
        <p:txBody>
          <a:bodyPr>
            <a:normAutofit/>
          </a:bodyPr>
          <a:lstStyle/>
          <a:p>
            <a:r>
              <a:rPr lang="en-US" strike="noStrike" baseline="0" dirty="0"/>
              <a:t>Project 3 - feature matching (total 12 points).</a:t>
            </a:r>
            <a:r>
              <a:rPr lang="pl-PL" strike="noStrike" baseline="0" dirty="0"/>
              <a:t>.</a:t>
            </a:r>
            <a:endParaRPr lang="en-GB" dirty="0"/>
          </a:p>
        </p:txBody>
      </p:sp>
      <p:sp>
        <p:nvSpPr>
          <p:cNvPr id="3" name="Symbol zastępczy zawartości 2">
            <a:extLst>
              <a:ext uri="{FF2B5EF4-FFF2-40B4-BE49-F238E27FC236}">
                <a16:creationId xmlns:a16="http://schemas.microsoft.com/office/drawing/2014/main" id="{478300B1-4E02-E2D8-36CF-651461306B72}"/>
              </a:ext>
            </a:extLst>
          </p:cNvPr>
          <p:cNvSpPr>
            <a:spLocks noGrp="1"/>
          </p:cNvSpPr>
          <p:nvPr>
            <p:ph idx="1"/>
          </p:nvPr>
        </p:nvSpPr>
        <p:spPr>
          <a:xfrm>
            <a:off x="838200" y="952108"/>
            <a:ext cx="10436441" cy="5715022"/>
          </a:xfrm>
        </p:spPr>
        <p:txBody>
          <a:bodyPr>
            <a:normAutofit fontScale="92500" lnSpcReduction="10000"/>
          </a:bodyPr>
          <a:lstStyle/>
          <a:p>
            <a:pPr marL="0" indent="0" algn="l">
              <a:lnSpc>
                <a:spcPct val="110000"/>
              </a:lnSpc>
              <a:buNone/>
            </a:pPr>
            <a:r>
              <a:rPr lang="en-US" strike="noStrike" baseline="0" dirty="0"/>
              <a:t>Project 3 - feature matching (total 12 points).</a:t>
            </a:r>
          </a:p>
          <a:p>
            <a:pPr marL="0" indent="0" algn="l">
              <a:lnSpc>
                <a:spcPct val="110000"/>
              </a:lnSpc>
              <a:buNone/>
            </a:pPr>
            <a:r>
              <a:rPr lang="en-US" strike="noStrike" baseline="0" dirty="0"/>
              <a:t>Write programs:</a:t>
            </a:r>
          </a:p>
          <a:p>
            <a:pPr>
              <a:lnSpc>
                <a:spcPct val="110000"/>
              </a:lnSpc>
            </a:pPr>
            <a:r>
              <a:rPr lang="en-US" strike="noStrike" baseline="0" dirty="0"/>
              <a:t>Program 1: import photo_1.jpg and: find and show only 4 strongest corners using Haris Corner Detection (2 points), then find and show key points using SIFT method (2 points).</a:t>
            </a:r>
          </a:p>
          <a:p>
            <a:pPr>
              <a:lnSpc>
                <a:spcPct val="110000"/>
              </a:lnSpc>
            </a:pPr>
            <a:r>
              <a:rPr lang="en-US" strike="noStrike" baseline="0" dirty="0"/>
              <a:t>Program 2 : import photo_2_query.jpg and photo_2_train.jpg, perform and show feature matching with </a:t>
            </a:r>
            <a:r>
              <a:rPr lang="en-US" strike="noStrike" baseline="0" dirty="0" err="1"/>
              <a:t>homography</a:t>
            </a:r>
            <a:r>
              <a:rPr lang="en-US" strike="noStrike" baseline="0" dirty="0"/>
              <a:t> drawing lines (4 points).</a:t>
            </a:r>
          </a:p>
          <a:p>
            <a:pPr>
              <a:lnSpc>
                <a:spcPct val="110000"/>
              </a:lnSpc>
            </a:pPr>
            <a:r>
              <a:rPr lang="en-US" strike="noStrike" baseline="0" dirty="0"/>
              <a:t>Program 3: import photo_3_query.jpg and video_3_train.mp4, perform feature matching with </a:t>
            </a:r>
            <a:r>
              <a:rPr lang="en-US" strike="noStrike" baseline="0" dirty="0" err="1"/>
              <a:t>homography</a:t>
            </a:r>
            <a:r>
              <a:rPr lang="en-US" strike="noStrike" baseline="0" dirty="0"/>
              <a:t>, and track the object by drawing a rectangle around it (4 points).</a:t>
            </a:r>
            <a:endParaRPr lang="pl-PL" dirty="0"/>
          </a:p>
          <a:p>
            <a:pPr marL="0" indent="0">
              <a:lnSpc>
                <a:spcPct val="110000"/>
              </a:lnSpc>
              <a:buNone/>
            </a:pPr>
            <a:r>
              <a:rPr lang="en-US" b="0" i="1" u="none" strike="noStrike" baseline="0" dirty="0">
                <a:latin typeface="LMMathItalic10-Regular"/>
              </a:rPr>
              <a:t>We defend the project in person,</a:t>
            </a:r>
            <a:r>
              <a:rPr lang="pl-PL" b="0" i="1" u="none" strike="noStrike" baseline="0" dirty="0">
                <a:latin typeface="LMMathItalic10-Regular"/>
              </a:rPr>
              <a:t> </a:t>
            </a:r>
            <a:r>
              <a:rPr lang="en-US" b="0" i="1" u="none" strike="noStrike" baseline="0" dirty="0">
                <a:latin typeface="LMMathItalic10-Regular"/>
              </a:rPr>
              <a:t>we </a:t>
            </a:r>
            <a:r>
              <a:rPr lang="pl-PL" b="0" i="1" u="none" strike="noStrike" baseline="0" dirty="0" err="1">
                <a:latin typeface="LMMathItalic10-Regular"/>
              </a:rPr>
              <a:t>upload</a:t>
            </a:r>
            <a:r>
              <a:rPr lang="en-US" b="0" i="1" u="none" strike="noStrike" baseline="0" dirty="0">
                <a:latin typeface="LMMathItalic10-Regular"/>
              </a:rPr>
              <a:t> it</a:t>
            </a:r>
            <a:r>
              <a:rPr lang="pl-PL" b="0" i="1" u="none" strike="noStrike" baseline="0" dirty="0">
                <a:latin typeface="LMMathItalic10-Regular"/>
              </a:rPr>
              <a:t> to </a:t>
            </a:r>
            <a:r>
              <a:rPr lang="pl-PL" b="0" i="1" u="none" strike="noStrike" baseline="0" dirty="0" err="1">
                <a:latin typeface="LMMathItalic10-Regular"/>
              </a:rPr>
              <a:t>task</a:t>
            </a:r>
            <a:r>
              <a:rPr lang="en-US" b="0" i="1" u="none" strike="noStrike" baseline="0" dirty="0">
                <a:latin typeface="LMMathItalic10-Regular"/>
              </a:rPr>
              <a:t> via Microsoft Teams</a:t>
            </a:r>
            <a:r>
              <a:rPr lang="pl-PL" b="0" i="1" u="none" strike="noStrike" baseline="0" dirty="0">
                <a:latin typeface="LMMathItalic10-Regular"/>
              </a:rPr>
              <a:t> </a:t>
            </a:r>
            <a:r>
              <a:rPr lang="en-US" b="0" i="1" u="none" strike="noStrike" baseline="0" dirty="0">
                <a:latin typeface="LMMathItalic10-Regular"/>
              </a:rPr>
              <a:t>.</a:t>
            </a:r>
            <a:br>
              <a:rPr lang="pl-PL" b="0" i="1" u="none" strike="noStrike" baseline="0" dirty="0">
                <a:latin typeface="LMMathItalic10-Regular"/>
              </a:rPr>
            </a:br>
            <a:endParaRPr lang="pl-PL" strike="noStrike" baseline="0" dirty="0"/>
          </a:p>
        </p:txBody>
      </p:sp>
    </p:spTree>
    <p:extLst>
      <p:ext uri="{BB962C8B-B14F-4D97-AF65-F5344CB8AC3E}">
        <p14:creationId xmlns:p14="http://schemas.microsoft.com/office/powerpoint/2010/main" val="609933361"/>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1FCED6980984B4EAA8CD1B423CE6999" ma:contentTypeVersion="11" ma:contentTypeDescription="Utwórz nowy dokument." ma:contentTypeScope="" ma:versionID="53d9a2e9e18433507f68eeeca347b2cd">
  <xsd:schema xmlns:xsd="http://www.w3.org/2001/XMLSchema" xmlns:xs="http://www.w3.org/2001/XMLSchema" xmlns:p="http://schemas.microsoft.com/office/2006/metadata/properties" xmlns:ns2="571c08b6-9233-4c7f-a533-846b371f79b3" xmlns:ns3="6c192778-bd33-427a-a015-88c5b575c2e6" targetNamespace="http://schemas.microsoft.com/office/2006/metadata/properties" ma:root="true" ma:fieldsID="44d43a698dd165c4c286dc9dc758b0b4" ns2:_="" ns3:_="">
    <xsd:import namespace="571c08b6-9233-4c7f-a533-846b371f79b3"/>
    <xsd:import namespace="6c192778-bd33-427a-a015-88c5b575c2e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71c08b6-9233-4c7f-a533-846b371f79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Tagi obrazów" ma:readOnly="false" ma:fieldId="{5cf76f15-5ced-4ddc-b409-7134ff3c332f}" ma:taxonomyMulti="true" ma:sspId="6acc8a4f-7760-4777-b4cb-e58fd8606a5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c192778-bd33-427a-a015-88c5b575c2e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c63b0d2-808b-499f-a472-9ebd42d7a351}" ma:internalName="TaxCatchAll" ma:showField="CatchAllData" ma:web="6c192778-bd33-427a-a015-88c5b575c2e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71c08b6-9233-4c7f-a533-846b371f79b3">
      <Terms xmlns="http://schemas.microsoft.com/office/infopath/2007/PartnerControls"/>
    </lcf76f155ced4ddcb4097134ff3c332f>
    <TaxCatchAll xmlns="6c192778-bd33-427a-a015-88c5b575c2e6" xsi:nil="true"/>
  </documentManagement>
</p:properties>
</file>

<file path=customXml/itemProps1.xml><?xml version="1.0" encoding="utf-8"?>
<ds:datastoreItem xmlns:ds="http://schemas.openxmlformats.org/officeDocument/2006/customXml" ds:itemID="{E9403978-4375-41C0-8A53-DE7C75D5D2BC}"/>
</file>

<file path=customXml/itemProps2.xml><?xml version="1.0" encoding="utf-8"?>
<ds:datastoreItem xmlns:ds="http://schemas.openxmlformats.org/officeDocument/2006/customXml" ds:itemID="{6D137312-AECC-4D1F-AF89-C9D6DD3B4906}"/>
</file>

<file path=customXml/itemProps3.xml><?xml version="1.0" encoding="utf-8"?>
<ds:datastoreItem xmlns:ds="http://schemas.openxmlformats.org/officeDocument/2006/customXml" ds:itemID="{B2663AB1-6D62-4C97-B52B-3401F0939530}"/>
</file>

<file path=docProps/app.xml><?xml version="1.0" encoding="utf-8"?>
<Properties xmlns="http://schemas.openxmlformats.org/officeDocument/2006/extended-properties" xmlns:vt="http://schemas.openxmlformats.org/officeDocument/2006/docPropsVTypes">
  <TotalTime>1181</TotalTime>
  <Words>1522</Words>
  <Application>Microsoft Office PowerPoint</Application>
  <PresentationFormat>Widescreen</PresentationFormat>
  <Paragraphs>101</Paragraphs>
  <Slides>23</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Google Sans</vt:lpstr>
      <vt:lpstr>LMMathItalic10-Regular</vt:lpstr>
      <vt:lpstr>sohne</vt:lpstr>
      <vt:lpstr>source-serif-pro</vt:lpstr>
      <vt:lpstr>Arial</vt:lpstr>
      <vt:lpstr>Calibri</vt:lpstr>
      <vt:lpstr>Calibri Light</vt:lpstr>
      <vt:lpstr>Motyw pakietu Office</vt:lpstr>
      <vt:lpstr>Machine Vision</vt:lpstr>
      <vt:lpstr>What is a Feature detection?</vt:lpstr>
      <vt:lpstr>Applications of feature detection</vt:lpstr>
      <vt:lpstr>Suppose you want to create a panorama</vt:lpstr>
      <vt:lpstr>Suppose you want to create a panorama</vt:lpstr>
      <vt:lpstr>Suppose you want to create a panorama</vt:lpstr>
      <vt:lpstr>Features can also be used for object recognition</vt:lpstr>
      <vt:lpstr>Applications of feature detection</vt:lpstr>
      <vt:lpstr>Applications of feature detection</vt:lpstr>
      <vt:lpstr>Applications of feature detection</vt:lpstr>
      <vt:lpstr>Applications of feature detection</vt:lpstr>
      <vt:lpstr>Applications of feature detection</vt:lpstr>
      <vt:lpstr>e.g. to locate NASA Mars Rover images</vt:lpstr>
      <vt:lpstr>e.g. to locate NASA Mars Rover images</vt:lpstr>
      <vt:lpstr>Good features for feature detection in computer vision</vt:lpstr>
      <vt:lpstr>Good features for feature detection in computer vision</vt:lpstr>
      <vt:lpstr>Good features for feature detection in computer vision</vt:lpstr>
      <vt:lpstr>Features: detection, description, matching.</vt:lpstr>
      <vt:lpstr>Features: detection, description, matching.</vt:lpstr>
      <vt:lpstr>Code :  01 Harris Corner Detection.py 02 Good Features to Track.py 03 Scale-Invariant Feature Transform – SIFT.py 04 features detection.py</vt:lpstr>
      <vt:lpstr>Features: detection, description, matching.</vt:lpstr>
      <vt:lpstr>Code :   05 Brute-Force Matching with SIFT Descriptors and Ratio Test.py  06 FLANN Matching with SIFT Descriptors and Ratio Test.py  07 matching and homography.py</vt:lpstr>
      <vt:lpstr>Project 3 - feature matching (total 12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Metody Inżynierii Wiedzy</dc:title>
  <dc:creator>Michał Majewski</dc:creator>
  <cp:lastModifiedBy>Julia Wiśniewska</cp:lastModifiedBy>
  <cp:revision>19</cp:revision>
  <dcterms:created xsi:type="dcterms:W3CDTF">2024-02-17T08:37:25Z</dcterms:created>
  <dcterms:modified xsi:type="dcterms:W3CDTF">2026-04-13T12:05:28Z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0x01010021FCED6980984B4EAA8CD1B423CE6999</vt:lpwstr>
  </property>
</Properties>
</file>